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6" r:id="rId3"/>
    <p:sldId id="257" r:id="rId4"/>
    <p:sldId id="258" r:id="rId5"/>
    <p:sldId id="259" r:id="rId6"/>
    <p:sldId id="264" r:id="rId7"/>
    <p:sldId id="265" r:id="rId8"/>
    <p:sldId id="266" r:id="rId9"/>
    <p:sldId id="261" r:id="rId10"/>
    <p:sldId id="262" r:id="rId11"/>
    <p:sldId id="263" r:id="rId12"/>
    <p:sldId id="268" r:id="rId13"/>
    <p:sldId id="269" r:id="rId14"/>
    <p:sldId id="270" r:id="rId15"/>
    <p:sldId id="271" r:id="rId16"/>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7" Type="http://schemas.openxmlformats.org/officeDocument/2006/relationships/tableStyles" Target="tableStyles.xml"/><Relationship Id="rId46" Type="http://schemas.openxmlformats.org/officeDocument/2006/relationships/viewProps" Target="viewProps.xml"/><Relationship Id="rId45" Type="http://schemas.openxmlformats.org/officeDocument/2006/relationships/presProps" Target="presProps.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notesMaster" Target="notesMasters/notesMaster1.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E656E7-AB43-4F9F-92D8-1905775CFFCF}" type="datetimeFigureOut">
              <a:rPr lang="en-IN" smtClean="0"/>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1FA6EB6-A708-4526-B6C6-21D2812C4558}" type="slidenum">
              <a:rPr lang="en-IN" smtClean="0"/>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1FA6EB6-A708-4526-B6C6-21D2812C4558}" type="slidenum">
              <a:rPr lang="en-IN" smtClean="0"/>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4FA37BA2-ECEF-4262-A242-AF157FD298F1}"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D16BC85-D579-48C1-B055-97FC477470C1}" type="slidenum">
              <a:rPr lang="en-IN" smtClean="0"/>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4FA37BA2-ECEF-4262-A242-AF157FD298F1}"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D16BC85-D579-48C1-B055-97FC477470C1}" type="slidenum">
              <a:rPr lang="en-IN" smtClean="0"/>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4FA37BA2-ECEF-4262-A242-AF157FD298F1}"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D16BC85-D579-48C1-B055-97FC477470C1}" type="slidenum">
              <a:rPr lang="en-IN" smtClean="0"/>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Date Placeholder 4"/>
          <p:cNvSpPr>
            <a:spLocks noGrp="1"/>
          </p:cNvSpPr>
          <p:nvPr>
            <p:ph type="dt" sz="half" idx="10"/>
          </p:nvPr>
        </p:nvSpPr>
        <p:spPr/>
        <p:txBody>
          <a:bodyPr/>
          <a:lstStyle/>
          <a:p>
            <a:fld id="{4FA37BA2-ECEF-4262-A242-AF157FD298F1}"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D16BC85-D579-48C1-B055-97FC477470C1}" type="slidenum">
              <a:rPr lang="en-IN" smtClean="0"/>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7" name="Date Placeholder 6"/>
          <p:cNvSpPr>
            <a:spLocks noGrp="1"/>
          </p:cNvSpPr>
          <p:nvPr>
            <p:ph type="dt" sz="half" idx="10"/>
          </p:nvPr>
        </p:nvSpPr>
        <p:spPr/>
        <p:txBody>
          <a:bodyPr/>
          <a:lstStyle/>
          <a:p>
            <a:fld id="{4FA37BA2-ECEF-4262-A242-AF157FD298F1}" type="datetimeFigureOut">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D16BC85-D579-48C1-B055-97FC477470C1}" type="slidenum">
              <a:rPr lang="en-IN" smtClean="0"/>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4FA37BA2-ECEF-4262-A242-AF157FD298F1}" type="datetimeFigureOut">
              <a:rPr lang="en-IN" smtClean="0"/>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D16BC85-D579-48C1-B055-97FC477470C1}" type="slidenum">
              <a:rPr lang="en-IN" smtClean="0"/>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FA37BA2-ECEF-4262-A242-AF157FD298F1}" type="datetimeFigureOut">
              <a:rPr lang="en-IN" smtClean="0"/>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D16BC85-D579-48C1-B055-97FC477470C1}"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4FA37BA2-ECEF-4262-A242-AF157FD298F1}"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D16BC85-D579-48C1-B055-97FC477470C1}" type="slidenum">
              <a:rPr lang="en-IN" smtClean="0"/>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4FA37BA2-ECEF-4262-A242-AF157FD298F1}"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D16BC85-D579-48C1-B055-97FC477470C1}" type="slidenum">
              <a:rPr lang="en-IN" smtClean="0"/>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4FA37BA2-ECEF-4262-A242-AF157FD298F1}"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D16BC85-D579-48C1-B055-97FC477470C1}" type="slidenum">
              <a:rPr lang="en-IN" smtClean="0"/>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4FA37BA2-ECEF-4262-A242-AF157FD298F1}"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D16BC85-D579-48C1-B055-97FC477470C1}" type="slidenum">
              <a:rPr lang="en-IN" smtClean="0"/>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FA37BA2-ECEF-4262-A242-AF157FD298F1}" type="datetimeFigureOut">
              <a:rPr lang="en-IN" smtClean="0"/>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D16BC85-D579-48C1-B055-97FC477470C1}"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4.png"/><Relationship Id="rId1" Type="http://schemas.openxmlformats.org/officeDocument/2006/relationships/image" Target="../media/image1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Module 5</a:t>
            </a:r>
            <a:endParaRPr lang="en-IN" dirty="0"/>
          </a:p>
        </p:txBody>
      </p:sp>
      <p:sp>
        <p:nvSpPr>
          <p:cNvPr id="3" name="Subtitle 2"/>
          <p:cNvSpPr>
            <a:spLocks noGrp="1"/>
          </p:cNvSpPr>
          <p:nvPr>
            <p:ph type="subTitle" idx="1"/>
          </p:nvPr>
        </p:nvSpPr>
        <p:spPr/>
        <p:txBody>
          <a:bodyPr>
            <a:normAutofit/>
          </a:bodyPr>
          <a:lstStyle/>
          <a:p>
            <a:r>
              <a:rPr lang="en-US" sz="3600" dirty="0"/>
              <a:t>Index Structures For Files</a:t>
            </a:r>
            <a:endParaRPr lang="en-IN" sz="3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Indexing in Database</a:t>
            </a:r>
            <a:endParaRPr lang="en-IN" dirty="0"/>
          </a:p>
        </p:txBody>
      </p:sp>
      <p:sp>
        <p:nvSpPr>
          <p:cNvPr id="3" name="Content Placeholder 2"/>
          <p:cNvSpPr>
            <a:spLocks noGrp="1"/>
          </p:cNvSpPr>
          <p:nvPr>
            <p:ph idx="1"/>
          </p:nvPr>
        </p:nvSpPr>
        <p:spPr>
          <a:xfrm>
            <a:off x="838200" y="1344168"/>
            <a:ext cx="10515600" cy="5148707"/>
          </a:xfrm>
        </p:spPr>
        <p:txBody>
          <a:bodyPr>
            <a:normAutofit fontScale="70000"/>
          </a:bodyPr>
          <a:lstStyle/>
          <a:p>
            <a:r>
              <a:rPr lang="en-US" b="0" i="0" dirty="0">
                <a:solidFill>
                  <a:srgbClr val="273239"/>
                </a:solidFill>
                <a:effectLst/>
                <a:highlight>
                  <a:srgbClr val="FFFFFF"/>
                </a:highlight>
                <a:latin typeface="Nunito" pitchFamily="2" charset="0"/>
              </a:rPr>
              <a:t>Indexing improves database performance by minimizing </a:t>
            </a:r>
            <a:endParaRPr lang="en-US" b="0" i="0" dirty="0">
              <a:solidFill>
                <a:srgbClr val="273239"/>
              </a:solidFill>
              <a:effectLst/>
              <a:highlight>
                <a:srgbClr val="FFFFFF"/>
              </a:highlight>
              <a:latin typeface="Nunito" pitchFamily="2" charset="0"/>
            </a:endParaRPr>
          </a:p>
          <a:p>
            <a:r>
              <a:rPr lang="en-US" b="0" i="0" dirty="0">
                <a:solidFill>
                  <a:srgbClr val="273239"/>
                </a:solidFill>
                <a:effectLst/>
                <a:highlight>
                  <a:srgbClr val="FFFFFF"/>
                </a:highlight>
                <a:latin typeface="Nunito" pitchFamily="2" charset="0"/>
              </a:rPr>
              <a:t>the number of disc visits required to fulfill a query.</a:t>
            </a:r>
            <a:endParaRPr lang="en-US" b="0" i="0" dirty="0">
              <a:solidFill>
                <a:srgbClr val="273239"/>
              </a:solidFill>
              <a:effectLst/>
              <a:highlight>
                <a:srgbClr val="FFFFFF"/>
              </a:highlight>
              <a:latin typeface="Nunito" pitchFamily="2" charset="0"/>
            </a:endParaRPr>
          </a:p>
          <a:p>
            <a:r>
              <a:rPr lang="en-US" b="0" i="0" dirty="0">
                <a:solidFill>
                  <a:srgbClr val="273239"/>
                </a:solidFill>
                <a:effectLst/>
                <a:highlight>
                  <a:srgbClr val="FFFFFF"/>
                </a:highlight>
                <a:latin typeface="Nunito" pitchFamily="2" charset="0"/>
              </a:rPr>
              <a:t>It is a data structure technique used to locate and quickly </a:t>
            </a:r>
            <a:endParaRPr lang="en-US" b="0" i="0" dirty="0">
              <a:solidFill>
                <a:srgbClr val="273239"/>
              </a:solidFill>
              <a:effectLst/>
              <a:highlight>
                <a:srgbClr val="FFFFFF"/>
              </a:highlight>
              <a:latin typeface="Nunito" pitchFamily="2" charset="0"/>
            </a:endParaRPr>
          </a:p>
          <a:p>
            <a:r>
              <a:rPr lang="en-US" b="0" i="0" dirty="0">
                <a:solidFill>
                  <a:srgbClr val="273239"/>
                </a:solidFill>
                <a:effectLst/>
                <a:highlight>
                  <a:srgbClr val="FFFFFF"/>
                </a:highlight>
                <a:latin typeface="Nunito" pitchFamily="2" charset="0"/>
              </a:rPr>
              <a:t>access data in databases. Several database fields are used to </a:t>
            </a:r>
            <a:endParaRPr lang="en-US" b="0" i="0" dirty="0">
              <a:solidFill>
                <a:srgbClr val="273239"/>
              </a:solidFill>
              <a:effectLst/>
              <a:highlight>
                <a:srgbClr val="FFFFFF"/>
              </a:highlight>
              <a:latin typeface="Nunito" pitchFamily="2" charset="0"/>
            </a:endParaRPr>
          </a:p>
          <a:p>
            <a:r>
              <a:rPr lang="en-US" b="0" i="0" dirty="0">
                <a:solidFill>
                  <a:srgbClr val="273239"/>
                </a:solidFill>
                <a:effectLst/>
                <a:highlight>
                  <a:srgbClr val="FFFFFF"/>
                </a:highlight>
                <a:latin typeface="Nunito" pitchFamily="2" charset="0"/>
              </a:rPr>
              <a:t>generate indexes</a:t>
            </a:r>
            <a:r>
              <a:rPr lang="en-US" dirty="0">
                <a:solidFill>
                  <a:srgbClr val="273239"/>
                </a:solidFill>
                <a:highlight>
                  <a:srgbClr val="FFFFFF"/>
                </a:highlight>
                <a:latin typeface="Nunito" pitchFamily="2" charset="0"/>
              </a:rPr>
              <a:t>.</a:t>
            </a:r>
            <a:endParaRPr lang="en-US" dirty="0">
              <a:solidFill>
                <a:srgbClr val="273239"/>
              </a:solidFill>
              <a:highlight>
                <a:srgbClr val="FFFFFF"/>
              </a:highlight>
              <a:latin typeface="Nunito" pitchFamily="2" charset="0"/>
            </a:endParaRPr>
          </a:p>
          <a:p>
            <a:r>
              <a:rPr lang="en-US" b="0" i="0" dirty="0">
                <a:solidFill>
                  <a:srgbClr val="273239"/>
                </a:solidFill>
                <a:effectLst/>
                <a:highlight>
                  <a:srgbClr val="FFFFFF"/>
                </a:highlight>
                <a:latin typeface="Nunito" pitchFamily="2" charset="0"/>
              </a:rPr>
              <a:t>The main key or candidate key of the table is duplicated in </a:t>
            </a:r>
            <a:endParaRPr lang="en-US" b="0" i="0" dirty="0">
              <a:solidFill>
                <a:srgbClr val="273239"/>
              </a:solidFill>
              <a:effectLst/>
              <a:highlight>
                <a:srgbClr val="FFFFFF"/>
              </a:highlight>
              <a:latin typeface="Nunito" pitchFamily="2" charset="0"/>
            </a:endParaRPr>
          </a:p>
          <a:p>
            <a:r>
              <a:rPr lang="en-US" b="0" i="0" dirty="0">
                <a:solidFill>
                  <a:srgbClr val="273239"/>
                </a:solidFill>
                <a:effectLst/>
                <a:highlight>
                  <a:srgbClr val="FFFFFF"/>
                </a:highlight>
                <a:latin typeface="Nunito" pitchFamily="2" charset="0"/>
              </a:rPr>
              <a:t>the first column, which is the Search key.</a:t>
            </a:r>
            <a:endParaRPr lang="en-US" b="0" i="0" dirty="0">
              <a:solidFill>
                <a:srgbClr val="273239"/>
              </a:solidFill>
              <a:effectLst/>
              <a:highlight>
                <a:srgbClr val="FFFFFF"/>
              </a:highlight>
              <a:latin typeface="Nunito" pitchFamily="2" charset="0"/>
            </a:endParaRPr>
          </a:p>
          <a:p>
            <a:r>
              <a:rPr lang="en-US" b="0" i="0" dirty="0">
                <a:solidFill>
                  <a:srgbClr val="273239"/>
                </a:solidFill>
                <a:effectLst/>
                <a:highlight>
                  <a:srgbClr val="FFFFFF"/>
                </a:highlight>
                <a:latin typeface="Nunito" pitchFamily="2" charset="0"/>
              </a:rPr>
              <a:t>To speed up data retrieval, the values are also kept in sorted order. It </a:t>
            </a:r>
            <a:endParaRPr lang="en-US" b="0" i="0" dirty="0">
              <a:solidFill>
                <a:srgbClr val="273239"/>
              </a:solidFill>
              <a:effectLst/>
              <a:highlight>
                <a:srgbClr val="FFFFFF"/>
              </a:highlight>
              <a:latin typeface="Nunito" pitchFamily="2" charset="0"/>
            </a:endParaRPr>
          </a:p>
          <a:p>
            <a:r>
              <a:rPr lang="en-US" b="0" i="0" dirty="0">
                <a:solidFill>
                  <a:srgbClr val="273239"/>
                </a:solidFill>
                <a:effectLst/>
                <a:highlight>
                  <a:srgbClr val="FFFFFF"/>
                </a:highlight>
                <a:latin typeface="Nunito" pitchFamily="2" charset="0"/>
              </a:rPr>
              <a:t>should be highlighted that sorting the data is not required</a:t>
            </a:r>
            <a:r>
              <a:rPr lang="en-US" dirty="0">
                <a:solidFill>
                  <a:srgbClr val="273239"/>
                </a:solidFill>
                <a:highlight>
                  <a:srgbClr val="FFFFFF"/>
                </a:highlight>
                <a:latin typeface="Nunito" pitchFamily="2" charset="0"/>
              </a:rPr>
              <a:t>.</a:t>
            </a:r>
            <a:endParaRPr lang="en-US" dirty="0">
              <a:solidFill>
                <a:srgbClr val="273239"/>
              </a:solidFill>
              <a:highlight>
                <a:srgbClr val="FFFFFF"/>
              </a:highlight>
              <a:latin typeface="Nunito" pitchFamily="2" charset="0"/>
            </a:endParaRPr>
          </a:p>
          <a:p>
            <a:r>
              <a:rPr lang="en-US" b="0" i="0" dirty="0">
                <a:solidFill>
                  <a:srgbClr val="273239"/>
                </a:solidFill>
                <a:effectLst/>
                <a:highlight>
                  <a:srgbClr val="FFFFFF"/>
                </a:highlight>
                <a:latin typeface="Nunito" pitchFamily="2" charset="0"/>
              </a:rPr>
              <a:t>The second column is the Data Reference or Pointer which contains a </a:t>
            </a:r>
            <a:endParaRPr lang="en-US" b="0" i="0" dirty="0">
              <a:solidFill>
                <a:srgbClr val="273239"/>
              </a:solidFill>
              <a:effectLst/>
              <a:highlight>
                <a:srgbClr val="FFFFFF"/>
              </a:highlight>
              <a:latin typeface="Nunito" pitchFamily="2" charset="0"/>
            </a:endParaRPr>
          </a:p>
          <a:p>
            <a:r>
              <a:rPr lang="en-US" b="0" i="0" dirty="0">
                <a:solidFill>
                  <a:srgbClr val="273239"/>
                </a:solidFill>
                <a:effectLst/>
                <a:highlight>
                  <a:srgbClr val="FFFFFF"/>
                </a:highlight>
                <a:latin typeface="Nunito" pitchFamily="2" charset="0"/>
              </a:rPr>
              <a:t>set of pointers holding the address of the disk block where that </a:t>
            </a:r>
            <a:endParaRPr lang="en-US" b="0" i="0" dirty="0">
              <a:solidFill>
                <a:srgbClr val="273239"/>
              </a:solidFill>
              <a:effectLst/>
              <a:highlight>
                <a:srgbClr val="FFFFFF"/>
              </a:highlight>
              <a:latin typeface="Nunito" pitchFamily="2" charset="0"/>
            </a:endParaRPr>
          </a:p>
          <a:p>
            <a:r>
              <a:rPr lang="en-US" b="0" i="0" dirty="0">
                <a:solidFill>
                  <a:srgbClr val="273239"/>
                </a:solidFill>
                <a:effectLst/>
                <a:highlight>
                  <a:srgbClr val="FFFFFF"/>
                </a:highlight>
                <a:latin typeface="Nunito" pitchFamily="2" charset="0"/>
              </a:rPr>
              <a:t>particular key value can be found.</a:t>
            </a:r>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1"/>
          <a:stretch>
            <a:fillRect/>
          </a:stretch>
        </p:blipFill>
        <p:spPr bwMode="auto">
          <a:xfrm>
            <a:off x="2807685" y="989127"/>
            <a:ext cx="6576630" cy="470194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i="0" dirty="0">
                <a:solidFill>
                  <a:srgbClr val="273239"/>
                </a:solidFill>
                <a:effectLst/>
                <a:highlight>
                  <a:srgbClr val="FFFFFF"/>
                </a:highlight>
                <a:latin typeface="Nunito" pitchFamily="2" charset="0"/>
              </a:rPr>
              <a:t>Attributes of Indexing</a:t>
            </a:r>
            <a:br>
              <a:rPr lang="en-IN" b="1" i="0" dirty="0">
                <a:solidFill>
                  <a:srgbClr val="273239"/>
                </a:solidFill>
                <a:effectLst/>
                <a:highlight>
                  <a:srgbClr val="FFFFFF"/>
                </a:highlight>
                <a:latin typeface="Nunito" pitchFamily="2" charset="0"/>
              </a:rPr>
            </a:br>
            <a:endParaRPr lang="en-IN" dirty="0"/>
          </a:p>
        </p:txBody>
      </p:sp>
      <p:sp>
        <p:nvSpPr>
          <p:cNvPr id="3" name="Content Placeholder 2"/>
          <p:cNvSpPr>
            <a:spLocks noGrp="1"/>
          </p:cNvSpPr>
          <p:nvPr>
            <p:ph idx="1"/>
          </p:nvPr>
        </p:nvSpPr>
        <p:spPr>
          <a:xfrm>
            <a:off x="838200" y="1216152"/>
            <a:ext cx="10515600" cy="4960811"/>
          </a:xfrm>
        </p:spPr>
        <p:txBody>
          <a:bodyPr>
            <a:normAutofit fontScale="72500"/>
          </a:bodyPr>
          <a:lstStyle/>
          <a:p>
            <a:pPr algn="l" fontAlgn="base">
              <a:buFont typeface="Arial" panose="020B0604020202020204" pitchFamily="34" charset="0"/>
              <a:buChar char="•"/>
            </a:pPr>
            <a:r>
              <a:rPr lang="en-US" b="1" i="0" dirty="0">
                <a:solidFill>
                  <a:srgbClr val="273239"/>
                </a:solidFill>
                <a:effectLst/>
                <a:highlight>
                  <a:srgbClr val="FFFFFF"/>
                </a:highlight>
                <a:latin typeface="Nunito" pitchFamily="2" charset="0"/>
              </a:rPr>
              <a:t>Access Types:</a:t>
            </a:r>
            <a:r>
              <a:rPr lang="en-US" b="0" i="0" dirty="0">
                <a:solidFill>
                  <a:srgbClr val="273239"/>
                </a:solidFill>
                <a:effectLst/>
                <a:highlight>
                  <a:srgbClr val="FFFFFF"/>
                </a:highlight>
                <a:latin typeface="Nunito" pitchFamily="2" charset="0"/>
              </a:rPr>
              <a:t> This refers to the type of access such as </a:t>
            </a:r>
            <a:endParaRPr lang="en-US" b="0" i="0" dirty="0">
              <a:solidFill>
                <a:srgbClr val="273239"/>
              </a:solidFill>
              <a:effectLst/>
              <a:highlight>
                <a:srgbClr val="FFFFFF"/>
              </a:highlight>
              <a:latin typeface="Nunito" pitchFamily="2" charset="0"/>
            </a:endParaRP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value-based search, range access, etc.</a:t>
            </a:r>
            <a:endParaRPr lang="en-US" b="0" i="0" dirty="0">
              <a:solidFill>
                <a:srgbClr val="273239"/>
              </a:solidFill>
              <a:effectLst/>
              <a:highlight>
                <a:srgbClr val="FFFFFF"/>
              </a:highlight>
              <a:latin typeface="Nunito" pitchFamily="2" charset="0"/>
            </a:endParaRPr>
          </a:p>
          <a:p>
            <a:pPr algn="l" fontAlgn="base">
              <a:buFont typeface="Arial" panose="020B0604020202020204" pitchFamily="34" charset="0"/>
              <a:buChar char="•"/>
            </a:pPr>
            <a:r>
              <a:rPr lang="en-US" b="1" i="0" dirty="0">
                <a:solidFill>
                  <a:srgbClr val="273239"/>
                </a:solidFill>
                <a:effectLst/>
                <a:highlight>
                  <a:srgbClr val="FFFFFF"/>
                </a:highlight>
                <a:latin typeface="Nunito" pitchFamily="2" charset="0"/>
              </a:rPr>
              <a:t>Access Time:</a:t>
            </a:r>
            <a:r>
              <a:rPr lang="en-US" b="0" i="0" dirty="0">
                <a:solidFill>
                  <a:srgbClr val="273239"/>
                </a:solidFill>
                <a:effectLst/>
                <a:highlight>
                  <a:srgbClr val="FFFFFF"/>
                </a:highlight>
                <a:latin typeface="Nunito" pitchFamily="2" charset="0"/>
              </a:rPr>
              <a:t> It refers to the time needed to find a </a:t>
            </a:r>
            <a:endParaRPr lang="en-US" b="0" i="0" dirty="0">
              <a:solidFill>
                <a:srgbClr val="273239"/>
              </a:solidFill>
              <a:effectLst/>
              <a:highlight>
                <a:srgbClr val="FFFFFF"/>
              </a:highlight>
              <a:latin typeface="Nunito" pitchFamily="2" charset="0"/>
            </a:endParaRP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particular data element or set of elements.</a:t>
            </a:r>
            <a:endParaRPr lang="en-US" b="0" i="0" dirty="0">
              <a:solidFill>
                <a:srgbClr val="273239"/>
              </a:solidFill>
              <a:effectLst/>
              <a:highlight>
                <a:srgbClr val="FFFFFF"/>
              </a:highlight>
              <a:latin typeface="Nunito" pitchFamily="2" charset="0"/>
            </a:endParaRPr>
          </a:p>
          <a:p>
            <a:pPr algn="l" fontAlgn="base">
              <a:buFont typeface="Arial" panose="020B0604020202020204" pitchFamily="34" charset="0"/>
              <a:buChar char="•"/>
            </a:pPr>
            <a:r>
              <a:rPr lang="en-US" b="1" i="0" dirty="0">
                <a:solidFill>
                  <a:srgbClr val="273239"/>
                </a:solidFill>
                <a:effectLst/>
                <a:highlight>
                  <a:srgbClr val="FFFFFF"/>
                </a:highlight>
                <a:latin typeface="Nunito" pitchFamily="2" charset="0"/>
              </a:rPr>
              <a:t>Insertion Time:</a:t>
            </a:r>
            <a:r>
              <a:rPr lang="en-US" b="0" i="0" dirty="0">
                <a:solidFill>
                  <a:srgbClr val="273239"/>
                </a:solidFill>
                <a:effectLst/>
                <a:highlight>
                  <a:srgbClr val="FFFFFF"/>
                </a:highlight>
                <a:latin typeface="Nunito" pitchFamily="2" charset="0"/>
              </a:rPr>
              <a:t> It refers to the time taken to find the </a:t>
            </a:r>
            <a:endParaRPr lang="en-US" b="0" i="0" dirty="0">
              <a:solidFill>
                <a:srgbClr val="273239"/>
              </a:solidFill>
              <a:effectLst/>
              <a:highlight>
                <a:srgbClr val="FFFFFF"/>
              </a:highlight>
              <a:latin typeface="Nunito" pitchFamily="2" charset="0"/>
            </a:endParaRP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appropriate space and insert new data.</a:t>
            </a:r>
            <a:endParaRPr lang="en-US" b="0" i="0" dirty="0">
              <a:solidFill>
                <a:srgbClr val="273239"/>
              </a:solidFill>
              <a:effectLst/>
              <a:highlight>
                <a:srgbClr val="FFFFFF"/>
              </a:highlight>
              <a:latin typeface="Nunito" pitchFamily="2" charset="0"/>
            </a:endParaRPr>
          </a:p>
          <a:p>
            <a:pPr algn="l" fontAlgn="base">
              <a:buFont typeface="Arial" panose="020B0604020202020204" pitchFamily="34" charset="0"/>
              <a:buChar char="•"/>
            </a:pPr>
            <a:r>
              <a:rPr lang="en-US" b="1" i="0" dirty="0">
                <a:solidFill>
                  <a:srgbClr val="273239"/>
                </a:solidFill>
                <a:effectLst/>
                <a:highlight>
                  <a:srgbClr val="FFFFFF"/>
                </a:highlight>
                <a:latin typeface="Nunito" pitchFamily="2" charset="0"/>
              </a:rPr>
              <a:t>Deletion Time:</a:t>
            </a:r>
            <a:r>
              <a:rPr lang="en-US" b="0" i="0" dirty="0">
                <a:solidFill>
                  <a:srgbClr val="273239"/>
                </a:solidFill>
                <a:effectLst/>
                <a:highlight>
                  <a:srgbClr val="FFFFFF"/>
                </a:highlight>
                <a:latin typeface="Nunito" pitchFamily="2" charset="0"/>
              </a:rPr>
              <a:t> Time taken to find an item and delete it as </a:t>
            </a:r>
            <a:endParaRPr lang="en-US" b="0" i="0" dirty="0">
              <a:solidFill>
                <a:srgbClr val="273239"/>
              </a:solidFill>
              <a:effectLst/>
              <a:highlight>
                <a:srgbClr val="FFFFFF"/>
              </a:highlight>
              <a:latin typeface="Nunito" pitchFamily="2" charset="0"/>
            </a:endParaRP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well as update the index structure.</a:t>
            </a:r>
            <a:endParaRPr lang="en-US" b="0" i="0" dirty="0">
              <a:solidFill>
                <a:srgbClr val="273239"/>
              </a:solidFill>
              <a:effectLst/>
              <a:highlight>
                <a:srgbClr val="FFFFFF"/>
              </a:highlight>
              <a:latin typeface="Nunito" pitchFamily="2" charset="0"/>
            </a:endParaRPr>
          </a:p>
          <a:p>
            <a:pPr algn="l" fontAlgn="base">
              <a:buFont typeface="Arial" panose="020B0604020202020204" pitchFamily="34" charset="0"/>
              <a:buChar char="•"/>
            </a:pPr>
            <a:r>
              <a:rPr lang="en-US" b="1" i="0" dirty="0">
                <a:solidFill>
                  <a:srgbClr val="273239"/>
                </a:solidFill>
                <a:effectLst/>
                <a:highlight>
                  <a:srgbClr val="FFFFFF"/>
                </a:highlight>
                <a:latin typeface="Nunito" pitchFamily="2" charset="0"/>
              </a:rPr>
              <a:t>Space Overhead:</a:t>
            </a:r>
            <a:r>
              <a:rPr lang="en-US" b="0" i="0" dirty="0">
                <a:solidFill>
                  <a:srgbClr val="273239"/>
                </a:solidFill>
                <a:effectLst/>
                <a:highlight>
                  <a:srgbClr val="FFFFFF"/>
                </a:highlight>
                <a:latin typeface="Nunito" pitchFamily="2" charset="0"/>
              </a:rPr>
              <a:t> It refers to the additional space required by the index.</a:t>
            </a:r>
            <a:endParaRPr lang="en-US" b="0" i="0" dirty="0">
              <a:solidFill>
                <a:srgbClr val="273239"/>
              </a:solidFill>
              <a:effectLst/>
              <a:highlight>
                <a:srgbClr val="FFFFFF"/>
              </a:highlight>
              <a:latin typeface="Nunito" pitchFamily="2" charset="0"/>
            </a:endParaRPr>
          </a:p>
          <a:p>
            <a:pPr marL="0" indent="0">
              <a:buNone/>
            </a:pPr>
            <a:br>
              <a:rPr lang="en-US" dirty="0"/>
            </a:br>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9802368" cy="1280795"/>
          </a:xfrm>
        </p:spPr>
        <p:txBody>
          <a:bodyPr>
            <a:normAutofit/>
          </a:bodyPr>
          <a:lstStyle/>
          <a:p>
            <a:r>
              <a:rPr lang="en-US" sz="3600" i="0" dirty="0">
                <a:solidFill>
                  <a:srgbClr val="273239"/>
                </a:solidFill>
                <a:effectLst/>
                <a:highlight>
                  <a:srgbClr val="FFFFFF"/>
                </a:highlight>
                <a:latin typeface="+mn-lt"/>
              </a:rPr>
              <a:t>Sequential File Organization or Ordered Index File</a:t>
            </a:r>
            <a:br>
              <a:rPr lang="en-US" b="1" i="0" dirty="0">
                <a:solidFill>
                  <a:srgbClr val="273239"/>
                </a:solidFill>
                <a:effectLst/>
                <a:highlight>
                  <a:srgbClr val="FFFFFF"/>
                </a:highlight>
                <a:latin typeface="Nunito" pitchFamily="2" charset="0"/>
              </a:rPr>
            </a:br>
            <a:endParaRPr lang="en-IN" dirty="0"/>
          </a:p>
        </p:txBody>
      </p:sp>
      <p:sp>
        <p:nvSpPr>
          <p:cNvPr id="3" name="Content Placeholder 2"/>
          <p:cNvSpPr>
            <a:spLocks noGrp="1"/>
          </p:cNvSpPr>
          <p:nvPr>
            <p:ph idx="1"/>
          </p:nvPr>
        </p:nvSpPr>
        <p:spPr>
          <a:xfrm>
            <a:off x="838200" y="1143000"/>
            <a:ext cx="10515600" cy="5033963"/>
          </a:xfrm>
        </p:spPr>
        <p:txBody>
          <a:bodyPr/>
          <a:lstStyle/>
          <a:p>
            <a:r>
              <a:rPr lang="en-US" b="0" i="0" dirty="0">
                <a:solidFill>
                  <a:srgbClr val="273239"/>
                </a:solidFill>
                <a:effectLst/>
                <a:highlight>
                  <a:srgbClr val="FFFFFF"/>
                </a:highlight>
                <a:latin typeface="Nunito" pitchFamily="2" charset="0"/>
              </a:rPr>
              <a:t>In this, the indices are based on a sorted ordering of </a:t>
            </a:r>
            <a:endParaRPr lang="en-US" b="0" i="0" dirty="0">
              <a:solidFill>
                <a:srgbClr val="273239"/>
              </a:solidFill>
              <a:effectLst/>
              <a:highlight>
                <a:srgbClr val="FFFFFF"/>
              </a:highlight>
              <a:latin typeface="Nunito" pitchFamily="2" charset="0"/>
            </a:endParaRPr>
          </a:p>
          <a:p>
            <a:r>
              <a:rPr lang="en-US" b="0" i="0" dirty="0">
                <a:solidFill>
                  <a:srgbClr val="273239"/>
                </a:solidFill>
                <a:effectLst/>
                <a:highlight>
                  <a:srgbClr val="FFFFFF"/>
                </a:highlight>
                <a:latin typeface="Nunito" pitchFamily="2" charset="0"/>
              </a:rPr>
              <a:t>the values. These are generally fast and a more </a:t>
            </a:r>
            <a:endParaRPr lang="en-US" b="0" i="0" dirty="0">
              <a:solidFill>
                <a:srgbClr val="273239"/>
              </a:solidFill>
              <a:effectLst/>
              <a:highlight>
                <a:srgbClr val="FFFFFF"/>
              </a:highlight>
              <a:latin typeface="Nunito" pitchFamily="2" charset="0"/>
            </a:endParaRPr>
          </a:p>
          <a:p>
            <a:r>
              <a:rPr lang="en-US" b="0" i="0" dirty="0">
                <a:solidFill>
                  <a:srgbClr val="273239"/>
                </a:solidFill>
                <a:effectLst/>
                <a:highlight>
                  <a:srgbClr val="FFFFFF"/>
                </a:highlight>
                <a:latin typeface="Nunito" pitchFamily="2" charset="0"/>
              </a:rPr>
              <a:t>traditional type of storing mechanism. </a:t>
            </a:r>
            <a:endParaRPr lang="en-US" b="0" i="0" dirty="0">
              <a:solidFill>
                <a:srgbClr val="273239"/>
              </a:solidFill>
              <a:effectLst/>
              <a:highlight>
                <a:srgbClr val="FFFFFF"/>
              </a:highlight>
              <a:latin typeface="Nunito" pitchFamily="2" charset="0"/>
            </a:endParaRPr>
          </a:p>
          <a:p>
            <a:endParaRPr lang="en-US" b="0" i="0" dirty="0">
              <a:solidFill>
                <a:srgbClr val="273239"/>
              </a:solidFill>
              <a:effectLst/>
              <a:highlight>
                <a:srgbClr val="FFFFFF"/>
              </a:highlight>
              <a:latin typeface="Nunito" pitchFamily="2" charset="0"/>
            </a:endParaRPr>
          </a:p>
          <a:p>
            <a:r>
              <a:rPr lang="en-US" b="0" i="0" dirty="0">
                <a:solidFill>
                  <a:srgbClr val="273239"/>
                </a:solidFill>
                <a:effectLst/>
                <a:highlight>
                  <a:srgbClr val="FFFFFF"/>
                </a:highlight>
                <a:latin typeface="Nunito" pitchFamily="2" charset="0"/>
              </a:rPr>
              <a:t>These Ordered or Sequential file organizations might </a:t>
            </a:r>
            <a:endParaRPr lang="en-US" b="0" i="0" dirty="0">
              <a:solidFill>
                <a:srgbClr val="273239"/>
              </a:solidFill>
              <a:effectLst/>
              <a:highlight>
                <a:srgbClr val="FFFFFF"/>
              </a:highlight>
              <a:latin typeface="Nunito" pitchFamily="2" charset="0"/>
            </a:endParaRPr>
          </a:p>
          <a:p>
            <a:r>
              <a:rPr lang="en-US" b="0" i="0" dirty="0">
                <a:solidFill>
                  <a:srgbClr val="273239"/>
                </a:solidFill>
                <a:effectLst/>
                <a:highlight>
                  <a:srgbClr val="FFFFFF"/>
                </a:highlight>
                <a:latin typeface="Nunito" pitchFamily="2" charset="0"/>
              </a:rPr>
              <a:t>store the data in a dense or sparse format.</a:t>
            </a:r>
            <a:endParaRPr lang="en-US" b="0" i="0" dirty="0">
              <a:solidFill>
                <a:srgbClr val="273239"/>
              </a:solidFill>
              <a:effectLst/>
              <a:highlight>
                <a:srgbClr val="FFFFFF"/>
              </a:highlight>
              <a:latin typeface="Nunito" pitchFamily="2" charset="0"/>
            </a:endParaRPr>
          </a:p>
          <a:p>
            <a:pPr marL="0" indent="0">
              <a:buNone/>
            </a:pPr>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1"/>
          <a:stretch>
            <a:fillRect/>
          </a:stretch>
        </p:blipFill>
        <p:spPr>
          <a:xfrm>
            <a:off x="3324835" y="2511187"/>
            <a:ext cx="4992928" cy="3523853"/>
          </a:xfrm>
        </p:spPr>
      </p:pic>
      <p:sp>
        <p:nvSpPr>
          <p:cNvPr id="9" name="TextBox 8"/>
          <p:cNvSpPr txBox="1"/>
          <p:nvPr/>
        </p:nvSpPr>
        <p:spPr>
          <a:xfrm>
            <a:off x="733806" y="174371"/>
            <a:ext cx="10174986" cy="1815882"/>
          </a:xfrm>
          <a:prstGeom prst="rect">
            <a:avLst/>
          </a:prstGeom>
          <a:noFill/>
        </p:spPr>
        <p:txBody>
          <a:bodyPr wrap="square">
            <a:spAutoFit/>
          </a:bodyPr>
          <a:lstStyle/>
          <a:p>
            <a:pPr marL="0" indent="0">
              <a:buNone/>
            </a:pPr>
            <a:r>
              <a:rPr lang="en-IN" sz="2800" b="1" i="0" dirty="0">
                <a:solidFill>
                  <a:srgbClr val="273239"/>
                </a:solidFill>
                <a:effectLst/>
                <a:highlight>
                  <a:srgbClr val="FFFFFF"/>
                </a:highlight>
              </a:rPr>
              <a:t>Dense Index</a:t>
            </a:r>
            <a:r>
              <a:rPr lang="en-US" sz="2800" dirty="0">
                <a:solidFill>
                  <a:srgbClr val="273239"/>
                </a:solidFill>
                <a:highlight>
                  <a:srgbClr val="FFFFFF"/>
                </a:highlight>
              </a:rPr>
              <a:t>:</a:t>
            </a:r>
            <a:endParaRPr lang="en-US" sz="2800" dirty="0">
              <a:solidFill>
                <a:srgbClr val="273239"/>
              </a:solidFill>
              <a:highlight>
                <a:srgbClr val="FFFFFF"/>
              </a:highlight>
            </a:endParaRPr>
          </a:p>
          <a:p>
            <a:pPr algn="l" fontAlgn="base">
              <a:buFont typeface="Arial" panose="020B0604020202020204" pitchFamily="34" charset="0"/>
              <a:buChar char="•"/>
            </a:pPr>
            <a:r>
              <a:rPr lang="en-US" sz="2800" b="0" i="0" dirty="0">
                <a:solidFill>
                  <a:srgbClr val="273239"/>
                </a:solidFill>
                <a:effectLst/>
                <a:highlight>
                  <a:srgbClr val="FFFFFF"/>
                </a:highlight>
              </a:rPr>
              <a:t>For every search key value in the data file, there is an index record.</a:t>
            </a:r>
            <a:endParaRPr lang="en-US" sz="2800" b="0" i="0" dirty="0">
              <a:solidFill>
                <a:srgbClr val="273239"/>
              </a:solidFill>
              <a:effectLst/>
              <a:highlight>
                <a:srgbClr val="FFFFFF"/>
              </a:highlight>
            </a:endParaRPr>
          </a:p>
          <a:p>
            <a:pPr algn="l" fontAlgn="base">
              <a:buFont typeface="Arial" panose="020B0604020202020204" pitchFamily="34" charset="0"/>
              <a:buChar char="•"/>
            </a:pPr>
            <a:r>
              <a:rPr lang="en-US" sz="2800" b="0" i="0" dirty="0">
                <a:solidFill>
                  <a:srgbClr val="273239"/>
                </a:solidFill>
                <a:effectLst/>
                <a:highlight>
                  <a:srgbClr val="FFFFFF"/>
                </a:highlight>
              </a:rPr>
              <a:t>  This record contains the search key and also a reference to the first data record with that search key value.</a:t>
            </a:r>
            <a:endParaRPr lang="en-US" sz="2800" b="0" i="0" dirty="0">
              <a:solidFill>
                <a:srgbClr val="273239"/>
              </a:solidFill>
              <a:effectLst/>
              <a:highlight>
                <a:srgbClr val="FFFFFF"/>
              </a:highligh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1"/>
          <a:stretch>
            <a:fillRect/>
          </a:stretch>
        </p:blipFill>
        <p:spPr>
          <a:xfrm>
            <a:off x="2724912" y="2505456"/>
            <a:ext cx="6842610" cy="3958081"/>
          </a:xfrm>
        </p:spPr>
      </p:pic>
      <p:sp>
        <p:nvSpPr>
          <p:cNvPr id="7" name="TextBox 6"/>
          <p:cNvSpPr txBox="1"/>
          <p:nvPr/>
        </p:nvSpPr>
        <p:spPr>
          <a:xfrm>
            <a:off x="896112" y="394463"/>
            <a:ext cx="10607040" cy="3693319"/>
          </a:xfrm>
          <a:prstGeom prst="rect">
            <a:avLst/>
          </a:prstGeom>
          <a:noFill/>
        </p:spPr>
        <p:txBody>
          <a:bodyPr wrap="square">
            <a:spAutoFit/>
          </a:bodyPr>
          <a:lstStyle/>
          <a:p>
            <a:r>
              <a:rPr lang="en-IN" sz="2400" b="1" i="0" dirty="0">
                <a:solidFill>
                  <a:srgbClr val="273239"/>
                </a:solidFill>
                <a:effectLst/>
                <a:highlight>
                  <a:srgbClr val="FFFFFF"/>
                </a:highlight>
              </a:rPr>
              <a:t>Sparse Index:</a:t>
            </a:r>
            <a:endParaRPr lang="en-IN" sz="2400" b="1" i="0" dirty="0">
              <a:solidFill>
                <a:srgbClr val="273239"/>
              </a:solidFill>
              <a:effectLst/>
              <a:highlight>
                <a:srgbClr val="FFFFFF"/>
              </a:highlight>
            </a:endParaRPr>
          </a:p>
          <a:p>
            <a:pPr algn="l" fontAlgn="base">
              <a:buFont typeface="Arial" panose="020B0604020202020204" pitchFamily="34" charset="0"/>
              <a:buChar char="•"/>
            </a:pPr>
            <a:r>
              <a:rPr lang="en-US" sz="2400" b="0" i="0" dirty="0">
                <a:solidFill>
                  <a:srgbClr val="273239"/>
                </a:solidFill>
                <a:effectLst/>
                <a:highlight>
                  <a:srgbClr val="FFFFFF"/>
                </a:highlight>
              </a:rPr>
              <a:t>The index record appears only for a few items in the data file. Each item points to a block as shown.</a:t>
            </a:r>
            <a:endParaRPr lang="en-US" sz="2400" b="0" i="0" dirty="0">
              <a:solidFill>
                <a:srgbClr val="273239"/>
              </a:solidFill>
              <a:effectLst/>
              <a:highlight>
                <a:srgbClr val="FFFFFF"/>
              </a:highlight>
            </a:endParaRPr>
          </a:p>
          <a:p>
            <a:pPr algn="l" fontAlgn="base">
              <a:buFont typeface="Arial" panose="020B0604020202020204" pitchFamily="34" charset="0"/>
              <a:buChar char="•"/>
            </a:pPr>
            <a:r>
              <a:rPr lang="en-US" sz="2400" b="0" i="0" dirty="0">
                <a:solidFill>
                  <a:srgbClr val="273239"/>
                </a:solidFill>
                <a:effectLst/>
                <a:highlight>
                  <a:srgbClr val="FFFFFF"/>
                </a:highlight>
              </a:rPr>
              <a:t>To locate a record, we find the index record with the largest search key value less than or equal to the search key value we are looking for.</a:t>
            </a:r>
            <a:endParaRPr lang="en-US" sz="2400" b="0" i="0" dirty="0">
              <a:solidFill>
                <a:srgbClr val="273239"/>
              </a:solidFill>
              <a:effectLst/>
              <a:highlight>
                <a:srgbClr val="FFFFFF"/>
              </a:highlight>
            </a:endParaRPr>
          </a:p>
          <a:p>
            <a:pPr algn="l" fontAlgn="base">
              <a:buFont typeface="Arial" panose="020B0604020202020204" pitchFamily="34" charset="0"/>
              <a:buChar char="•"/>
            </a:pPr>
            <a:r>
              <a:rPr lang="en-US" sz="2400" b="0" i="0" dirty="0">
                <a:solidFill>
                  <a:srgbClr val="273239"/>
                </a:solidFill>
                <a:effectLst/>
                <a:highlight>
                  <a:srgbClr val="FFFFFF"/>
                </a:highlight>
              </a:rPr>
              <a:t>We start at that record pointed to by the index record, and proceed along with the pointers in the file (that is, sequentially) until we find the desired record.</a:t>
            </a:r>
            <a:endParaRPr lang="en-US" sz="2400" b="0" i="0" dirty="0">
              <a:solidFill>
                <a:srgbClr val="273239"/>
              </a:solidFill>
              <a:effectLst/>
              <a:highlight>
                <a:srgbClr val="FFFFFF"/>
              </a:highlight>
            </a:endParaRPr>
          </a:p>
          <a:p>
            <a:pPr algn="l" fontAlgn="base">
              <a:buFont typeface="Arial" panose="020B0604020202020204" pitchFamily="34" charset="0"/>
              <a:buChar char="•"/>
            </a:pPr>
            <a:r>
              <a:rPr lang="en-US" sz="2400" b="0" i="0" dirty="0">
                <a:solidFill>
                  <a:srgbClr val="273239"/>
                </a:solidFill>
                <a:effectLst/>
                <a:highlight>
                  <a:srgbClr val="FFFFFF"/>
                </a:highlight>
              </a:rPr>
              <a:t>Number of Accesses required=log₂(n)+1, (here n=number of blocks acquired by index file)</a:t>
            </a:r>
            <a:endParaRPr lang="en-US" sz="2400" b="0" i="0" dirty="0">
              <a:solidFill>
                <a:srgbClr val="273239"/>
              </a:solidFill>
              <a:effectLst/>
              <a:highlight>
                <a:srgbClr val="FFFFFF"/>
              </a:highlight>
            </a:endParaRPr>
          </a:p>
          <a:p>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29184"/>
            <a:ext cx="10515600" cy="5847779"/>
          </a:xfrm>
        </p:spPr>
        <p:txBody>
          <a:bodyPr/>
          <a:lstStyle/>
          <a:p>
            <a:pPr marL="0" indent="0">
              <a:buNone/>
            </a:pPr>
            <a:r>
              <a:rPr lang="en-US" b="0" i="0" dirty="0">
                <a:solidFill>
                  <a:srgbClr val="273239"/>
                </a:solidFill>
                <a:effectLst/>
                <a:highlight>
                  <a:srgbClr val="FFFFFF"/>
                </a:highlight>
              </a:rPr>
              <a:t>In general, there are two types of file organization mechanisms that are followed by the indexing methods to store the data</a:t>
            </a:r>
            <a:r>
              <a:rPr lang="en-US" b="0" i="0" dirty="0">
                <a:solidFill>
                  <a:srgbClr val="273239"/>
                </a:solidFill>
                <a:effectLst/>
                <a:highlight>
                  <a:srgbClr val="FFFFFF"/>
                </a:highlight>
                <a:latin typeface="Nunito" pitchFamily="2" charset="0"/>
              </a:rPr>
              <a:t>.</a:t>
            </a:r>
            <a:endParaRPr lang="en-US" b="0" i="0" dirty="0">
              <a:solidFill>
                <a:srgbClr val="273239"/>
              </a:solidFill>
              <a:effectLst/>
              <a:highlight>
                <a:srgbClr val="FFFFFF"/>
              </a:highlight>
              <a:latin typeface="Nunito" pitchFamily="2" charset="0"/>
            </a:endParaRPr>
          </a:p>
          <a:p>
            <a:pPr marL="342900" indent="-342900">
              <a:buFont typeface="+mj-lt"/>
              <a:buAutoNum type="arabicPeriod"/>
            </a:pPr>
            <a:r>
              <a:rPr lang="en-IN" dirty="0">
                <a:effectLst/>
                <a:latin typeface="Calibri" panose="020F0502020204030204" pitchFamily="34" charset="0"/>
                <a:ea typeface="Calibri" panose="020F0502020204030204" pitchFamily="34" charset="0"/>
                <a:cs typeface="Times New Roman" panose="02020603050405020304" pitchFamily="18" charset="0"/>
              </a:rPr>
              <a:t>Single Level Ordered Indexes – Primary indexes, clustering indexes and Secondary indexes</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buFont typeface="+mj-lt"/>
              <a:buAutoNum type="arabicPeriod"/>
            </a:pP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buFont typeface="+mj-lt"/>
              <a:buAutoNum type="arabicPeriod"/>
            </a:pP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buFont typeface="+mj-lt"/>
              <a:buAutoNum type="arabicPeriod"/>
            </a:pPr>
            <a:endParaRPr lang="en-IN" dirty="0">
              <a:latin typeface="Calibri" panose="020F0502020204030204" pitchFamily="34" charset="0"/>
              <a:ea typeface="Calibri" panose="020F0502020204030204" pitchFamily="34" charset="0"/>
              <a:cs typeface="Times New Roman" panose="02020603050405020304" pitchFamily="18" charset="0"/>
            </a:endParaRPr>
          </a:p>
          <a:p>
            <a:pPr marL="342900" indent="-342900">
              <a:buFont typeface="+mj-lt"/>
              <a:buAutoNum type="arabicPeriod"/>
            </a:pP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buFont typeface="+mj-lt"/>
              <a:buAutoNum type="arabicPeriod"/>
            </a:pPr>
            <a:endParaRPr lang="en-IN" dirty="0">
              <a:latin typeface="Calibri" panose="020F0502020204030204" pitchFamily="34" charset="0"/>
              <a:ea typeface="Calibri" panose="020F0502020204030204" pitchFamily="34" charset="0"/>
              <a:cs typeface="Times New Roman" panose="02020603050405020304" pitchFamily="18" charset="0"/>
            </a:endParaRPr>
          </a:p>
          <a:p>
            <a:pPr marL="342900" indent="-342900">
              <a:buFont typeface="+mj-lt"/>
              <a:buAutoNum type="arabicPeriod"/>
            </a:pP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buFont typeface="+mj-lt"/>
              <a:buAutoNum type="arabicPeriod"/>
            </a:pPr>
            <a:endParaRPr lang="en-IN" dirty="0">
              <a:latin typeface="Calibri" panose="020F0502020204030204" pitchFamily="34" charset="0"/>
              <a:ea typeface="Calibri" panose="020F0502020204030204" pitchFamily="34" charset="0"/>
              <a:cs typeface="Times New Roman" panose="02020603050405020304" pitchFamily="18" charset="0"/>
            </a:endParaRPr>
          </a:p>
          <a:p>
            <a:pPr marL="342900" indent="-342900">
              <a:buFont typeface="+mj-lt"/>
              <a:buAutoNum type="arabicPeriod"/>
            </a:pPr>
            <a:r>
              <a:rPr lang="en-IN" dirty="0">
                <a:effectLst/>
                <a:latin typeface="Calibri" panose="020F0502020204030204" pitchFamily="34" charset="0"/>
                <a:ea typeface="Calibri" panose="020F0502020204030204" pitchFamily="34" charset="0"/>
                <a:cs typeface="Times New Roman" panose="02020603050405020304" pitchFamily="18" charset="0"/>
              </a:rPr>
              <a:t>Multi-level indexes- Dynamic Multilevel indexes using B-trees </a:t>
            </a:r>
            <a:endParaRPr lang="en-IN" dirty="0"/>
          </a:p>
        </p:txBody>
      </p:sp>
      <p:pic>
        <p:nvPicPr>
          <p:cNvPr id="5" name="Content Placeholder 4"/>
          <p:cNvPicPr>
            <a:picLocks noChangeAspect="1"/>
          </p:cNvPicPr>
          <p:nvPr/>
        </p:nvPicPr>
        <p:blipFill>
          <a:blip r:embed="rId1"/>
          <a:stretch>
            <a:fillRect/>
          </a:stretch>
        </p:blipFill>
        <p:spPr>
          <a:xfrm>
            <a:off x="3447288" y="2102445"/>
            <a:ext cx="4834142" cy="280788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0585"/>
            <a:ext cx="10515600" cy="1069847"/>
          </a:xfrm>
        </p:spPr>
        <p:txBody>
          <a:bodyPr/>
          <a:lstStyle/>
          <a:p>
            <a:r>
              <a:rPr lang="en-IN" dirty="0">
                <a:effectLst/>
                <a:latin typeface="Calibri" panose="020F0502020204030204" pitchFamily="34" charset="0"/>
                <a:ea typeface="Calibri" panose="020F0502020204030204" pitchFamily="34" charset="0"/>
                <a:cs typeface="Times New Roman" panose="02020603050405020304" pitchFamily="18" charset="0"/>
              </a:rPr>
              <a:t>Single Level Ordered Indexes:</a:t>
            </a:r>
            <a:endParaRPr lang="en-IN" dirty="0"/>
          </a:p>
        </p:txBody>
      </p:sp>
      <p:sp>
        <p:nvSpPr>
          <p:cNvPr id="3" name="Content Placeholder 2"/>
          <p:cNvSpPr>
            <a:spLocks noGrp="1"/>
          </p:cNvSpPr>
          <p:nvPr>
            <p:ph idx="1"/>
          </p:nvPr>
        </p:nvSpPr>
        <p:spPr>
          <a:xfrm>
            <a:off x="838200" y="1252728"/>
            <a:ext cx="10515600" cy="4924235"/>
          </a:xfrm>
        </p:spPr>
        <p:txBody>
          <a:bodyPr>
            <a:noAutofit/>
          </a:bodyPr>
          <a:lstStyle/>
          <a:p>
            <a:pPr marL="0" indent="0">
              <a:buNone/>
            </a:pPr>
            <a:r>
              <a:rPr lang="en-US" sz="2400" b="1" i="0" dirty="0">
                <a:effectLst/>
                <a:highlight>
                  <a:srgbClr val="FFFFFF"/>
                </a:highlight>
              </a:rPr>
              <a:t>Primary Indexing:</a:t>
            </a:r>
            <a:endParaRPr lang="en-US" sz="2400" b="1" i="0" dirty="0">
              <a:effectLst/>
              <a:highlight>
                <a:srgbClr val="FFFFFF"/>
              </a:highlight>
            </a:endParaRPr>
          </a:p>
          <a:p>
            <a:pPr marL="0" indent="0" algn="l">
              <a:buNone/>
            </a:pPr>
            <a:r>
              <a:rPr lang="en-US" sz="2400" b="0" i="0" dirty="0">
                <a:solidFill>
                  <a:srgbClr val="05192D"/>
                </a:solidFill>
                <a:effectLst/>
                <a:highlight>
                  <a:srgbClr val="FFFFFF"/>
                </a:highlight>
              </a:rPr>
              <a:t>A primary index is an ordered file whose records are of fixed length with two fields:</a:t>
            </a:r>
            <a:endParaRPr lang="en-US" sz="2400" b="0" i="0" dirty="0">
              <a:solidFill>
                <a:srgbClr val="05192D"/>
              </a:solidFill>
              <a:effectLst/>
              <a:highlight>
                <a:srgbClr val="FFFFFF"/>
              </a:highlight>
            </a:endParaRPr>
          </a:p>
          <a:p>
            <a:pPr algn="l">
              <a:buFont typeface="Arial" panose="020B0604020202020204" pitchFamily="34" charset="0"/>
              <a:buChar char="•"/>
            </a:pPr>
            <a:r>
              <a:rPr lang="en-US" sz="2400" b="0" i="0" dirty="0">
                <a:solidFill>
                  <a:srgbClr val="05192D"/>
                </a:solidFill>
                <a:effectLst/>
                <a:highlight>
                  <a:srgbClr val="FFFFFF"/>
                </a:highlight>
              </a:rPr>
              <a:t>The first field is the same as the </a:t>
            </a:r>
            <a:r>
              <a:rPr lang="en-US" sz="2400" b="0" i="1" dirty="0">
                <a:solidFill>
                  <a:srgbClr val="05192D"/>
                </a:solidFill>
                <a:effectLst/>
                <a:highlight>
                  <a:srgbClr val="FFFFFF"/>
                </a:highlight>
              </a:rPr>
              <a:t>primary key</a:t>
            </a:r>
            <a:r>
              <a:rPr lang="en-US" sz="2400" b="0" i="0" dirty="0">
                <a:solidFill>
                  <a:srgbClr val="05192D"/>
                </a:solidFill>
                <a:effectLst/>
                <a:highlight>
                  <a:srgbClr val="FFFFFF"/>
                </a:highlight>
              </a:rPr>
              <a:t> of data file.</a:t>
            </a:r>
            <a:endParaRPr lang="en-US" sz="2400" b="0" i="0" dirty="0">
              <a:solidFill>
                <a:srgbClr val="05192D"/>
              </a:solidFill>
              <a:effectLst/>
              <a:highlight>
                <a:srgbClr val="FFFFFF"/>
              </a:highlight>
            </a:endParaRPr>
          </a:p>
          <a:p>
            <a:pPr algn="l">
              <a:buFont typeface="Arial" panose="020B0604020202020204" pitchFamily="34" charset="0"/>
              <a:buChar char="•"/>
            </a:pPr>
            <a:r>
              <a:rPr lang="en-US" sz="2400" b="0" i="0" dirty="0">
                <a:solidFill>
                  <a:srgbClr val="05192D"/>
                </a:solidFill>
                <a:effectLst/>
                <a:highlight>
                  <a:srgbClr val="FFFFFF"/>
                </a:highlight>
              </a:rPr>
              <a:t>The second field is a pointer to the data block where the primary key is available.</a:t>
            </a:r>
            <a:endParaRPr lang="en-US" sz="2400" b="1" dirty="0">
              <a:solidFill>
                <a:srgbClr val="273239"/>
              </a:solidFill>
              <a:highlight>
                <a:srgbClr val="FFFFFF"/>
              </a:highlight>
            </a:endParaRPr>
          </a:p>
          <a:p>
            <a:pPr marL="0" indent="0" algn="l" fontAlgn="base">
              <a:buNone/>
            </a:pPr>
            <a:r>
              <a:rPr lang="en-US" sz="2000" b="1" i="0" dirty="0">
                <a:effectLst/>
                <a:highlight>
                  <a:srgbClr val="FFFFFF"/>
                </a:highlight>
              </a:rPr>
              <a:t>Types of Primary Indexing</a:t>
            </a:r>
            <a:endParaRPr lang="en-US" sz="2000" b="1" i="0" dirty="0">
              <a:effectLst/>
              <a:highlight>
                <a:srgbClr val="FFFFFF"/>
              </a:highlight>
            </a:endParaRPr>
          </a:p>
          <a:p>
            <a:pPr algn="l" fontAlgn="base">
              <a:buFont typeface="Arial" panose="020B0604020202020204" pitchFamily="34" charset="0"/>
              <a:buChar char="•"/>
            </a:pPr>
            <a:r>
              <a:rPr lang="en-US" sz="2000" b="1" i="0" dirty="0">
                <a:effectLst/>
                <a:highlight>
                  <a:srgbClr val="FFFFFF"/>
                </a:highlight>
              </a:rPr>
              <a:t>Dense Indexing</a:t>
            </a:r>
            <a:r>
              <a:rPr lang="en-US" sz="2000" b="0" i="0" dirty="0">
                <a:effectLst/>
                <a:highlight>
                  <a:srgbClr val="FFFFFF"/>
                </a:highlight>
              </a:rPr>
              <a:t>: In</a:t>
            </a:r>
            <a:r>
              <a:rPr lang="en-US" sz="2000" dirty="0">
                <a:highlight>
                  <a:srgbClr val="FFFFFF"/>
                </a:highlight>
              </a:rPr>
              <a:t> </a:t>
            </a:r>
            <a:r>
              <a:rPr lang="en-US" sz="2000" b="0" i="0" dirty="0">
                <a:effectLst/>
                <a:highlight>
                  <a:srgbClr val="FFFFFF"/>
                </a:highlight>
              </a:rPr>
              <a:t>Dense Index has an index entry for every search key value in the data file. This approach ensures efficient data retrieval but requires more storage space.</a:t>
            </a:r>
            <a:br>
              <a:rPr lang="en-US" sz="2000" b="0" i="0" dirty="0">
                <a:effectLst/>
                <a:highlight>
                  <a:srgbClr val="FFFFFF"/>
                </a:highlight>
              </a:rPr>
            </a:br>
            <a:r>
              <a:rPr lang="en-US" sz="2000" b="1" i="0" dirty="0">
                <a:effectLst/>
                <a:highlight>
                  <a:srgbClr val="FFFFFF"/>
                </a:highlight>
              </a:rPr>
              <a:t>No of Index Entry = No of DB Record</a:t>
            </a:r>
            <a:endParaRPr lang="en-US" sz="2000" b="0" i="0" dirty="0">
              <a:effectLst/>
              <a:highlight>
                <a:srgbClr val="FFFFFF"/>
              </a:highlight>
            </a:endParaRPr>
          </a:p>
          <a:p>
            <a:pPr algn="l" fontAlgn="base">
              <a:buFont typeface="Arial" panose="020B0604020202020204" pitchFamily="34" charset="0"/>
              <a:buChar char="•"/>
            </a:pPr>
            <a:r>
              <a:rPr lang="en-US" sz="2000" b="1" i="0" dirty="0">
                <a:effectLst/>
                <a:highlight>
                  <a:srgbClr val="FFFFFF"/>
                </a:highlight>
              </a:rPr>
              <a:t>Sparse Indexing</a:t>
            </a:r>
            <a:r>
              <a:rPr lang="en-US" sz="2000" b="0" i="0" dirty="0">
                <a:effectLst/>
                <a:highlight>
                  <a:srgbClr val="FFFFFF"/>
                </a:highlight>
              </a:rPr>
              <a:t>: Sparse indexing involves having fewer index entries than records. The index entries point to blocks of records rather than individual records. While it reduces storage overhead, it may require additional disk accesses during retrieval.</a:t>
            </a:r>
            <a:br>
              <a:rPr lang="en-US" sz="2000" b="0" i="0" dirty="0">
                <a:effectLst/>
                <a:highlight>
                  <a:srgbClr val="FFFFFF"/>
                </a:highlight>
              </a:rPr>
            </a:br>
            <a:r>
              <a:rPr lang="en-US" sz="2000" b="1" i="0" dirty="0">
                <a:effectLst/>
                <a:highlight>
                  <a:srgbClr val="FFFFFF"/>
                </a:highlight>
              </a:rPr>
              <a:t>No of Index Entry = No of Block</a:t>
            </a:r>
            <a:endParaRPr lang="en-US" sz="2000" b="0" i="0" dirty="0">
              <a:effectLst/>
              <a:highlight>
                <a:srgbClr val="FFFFFF"/>
              </a:highlight>
            </a:endParaRPr>
          </a:p>
          <a:p>
            <a:pPr marL="0" indent="0" algn="l">
              <a:buNone/>
            </a:pPr>
            <a:endParaRPr lang="en-US" sz="2400" b="0" i="0" dirty="0">
              <a:solidFill>
                <a:srgbClr val="05192D"/>
              </a:solidFill>
              <a:effectLst/>
              <a:highlight>
                <a:srgbClr val="FFFFFF"/>
              </a:highlight>
            </a:endParaRPr>
          </a:p>
          <a:p>
            <a:pPr marL="0" indent="0">
              <a:buNone/>
            </a:pPr>
            <a:r>
              <a:rPr lang="en-US" sz="2400" b="1" i="0" dirty="0">
                <a:effectLst/>
                <a:highlight>
                  <a:srgbClr val="FFFFFF"/>
                </a:highlight>
              </a:rPr>
              <a:t> </a:t>
            </a:r>
            <a:endParaRPr lang="en-IN"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39496"/>
            <a:ext cx="10515600" cy="5637467"/>
          </a:xfrm>
        </p:spPr>
        <p:txBody>
          <a:bodyPr>
            <a:normAutofit/>
          </a:bodyPr>
          <a:lstStyle/>
          <a:p>
            <a:r>
              <a:rPr lang="en-US" sz="2400" b="0" i="0" dirty="0">
                <a:solidFill>
                  <a:srgbClr val="05192D"/>
                </a:solidFill>
                <a:effectLst/>
                <a:highlight>
                  <a:srgbClr val="FFFFFF"/>
                </a:highlight>
              </a:rPr>
              <a:t>Index created for the first record of each block is called </a:t>
            </a:r>
            <a:r>
              <a:rPr lang="en-US" sz="2400" b="1" i="0" dirty="0">
                <a:solidFill>
                  <a:srgbClr val="05192D"/>
                </a:solidFill>
                <a:effectLst/>
                <a:highlight>
                  <a:srgbClr val="FFFFFF"/>
                </a:highlight>
              </a:rPr>
              <a:t>block anchors</a:t>
            </a:r>
            <a:r>
              <a:rPr lang="en-US" sz="2400" b="0" i="0" dirty="0">
                <a:solidFill>
                  <a:srgbClr val="05192D"/>
                </a:solidFill>
                <a:effectLst/>
                <a:highlight>
                  <a:srgbClr val="FFFFFF"/>
                </a:highlight>
              </a:rPr>
              <a:t>. In primary indexing, the number of index entries = the number of original data blocks. The average number of block accesses using primary index is:</a:t>
            </a:r>
            <a:endParaRPr lang="en-US" sz="2400" b="0" i="0" dirty="0">
              <a:solidFill>
                <a:srgbClr val="05192D"/>
              </a:solidFill>
              <a:effectLst/>
              <a:highlight>
                <a:srgbClr val="FFFFFF"/>
              </a:highlight>
            </a:endParaRPr>
          </a:p>
          <a:p>
            <a:pPr marL="0" indent="0">
              <a:buNone/>
            </a:pPr>
            <a:r>
              <a:rPr lang="en-US" sz="2400" b="0" i="0" dirty="0">
                <a:solidFill>
                  <a:srgbClr val="05192D"/>
                </a:solidFill>
                <a:effectLst/>
                <a:highlight>
                  <a:srgbClr val="FFFF00"/>
                </a:highlight>
              </a:rPr>
              <a:t>	$\log_{2}</a:t>
            </a:r>
            <a:r>
              <a:rPr lang="en-US" sz="2400" b="0" i="0" dirty="0" err="1">
                <a:solidFill>
                  <a:srgbClr val="05192D"/>
                </a:solidFill>
                <a:effectLst/>
                <a:highlight>
                  <a:srgbClr val="FFFF00"/>
                </a:highlight>
              </a:rPr>
              <a:t>B_i</a:t>
            </a:r>
            <a:r>
              <a:rPr lang="en-US" sz="2400" b="0" i="0" dirty="0">
                <a:solidFill>
                  <a:srgbClr val="05192D"/>
                </a:solidFill>
                <a:effectLst/>
                <a:highlight>
                  <a:srgbClr val="FFFF00"/>
                </a:highlight>
              </a:rPr>
              <a:t> + 1$</a:t>
            </a:r>
            <a:r>
              <a:rPr lang="en-US" sz="2400" b="0" i="0" dirty="0">
                <a:solidFill>
                  <a:srgbClr val="05192D"/>
                </a:solidFill>
                <a:effectLst/>
                <a:highlight>
                  <a:srgbClr val="FFFFFF"/>
                </a:highlight>
              </a:rPr>
              <a:t> , </a:t>
            </a:r>
            <a:endParaRPr lang="en-US" sz="2400" b="0" i="0" dirty="0">
              <a:solidFill>
                <a:srgbClr val="05192D"/>
              </a:solidFill>
              <a:effectLst/>
              <a:highlight>
                <a:srgbClr val="FFFFFF"/>
              </a:highlight>
            </a:endParaRPr>
          </a:p>
          <a:p>
            <a:pPr marL="0" indent="0">
              <a:buNone/>
            </a:pPr>
            <a:r>
              <a:rPr lang="en-US" sz="2400" b="0" i="0" dirty="0">
                <a:solidFill>
                  <a:srgbClr val="05192D"/>
                </a:solidFill>
                <a:effectLst/>
                <a:highlight>
                  <a:srgbClr val="FFFFFF"/>
                </a:highlight>
              </a:rPr>
              <a:t>where $</a:t>
            </a:r>
            <a:r>
              <a:rPr lang="en-US" sz="2400" b="0" i="0" dirty="0" err="1">
                <a:solidFill>
                  <a:srgbClr val="05192D"/>
                </a:solidFill>
                <a:effectLst/>
                <a:highlight>
                  <a:srgbClr val="FFFFFF"/>
                </a:highlight>
              </a:rPr>
              <a:t>B_i</a:t>
            </a:r>
            <a:r>
              <a:rPr lang="en-US" sz="2400" b="0" i="0" dirty="0">
                <a:solidFill>
                  <a:srgbClr val="05192D"/>
                </a:solidFill>
                <a:effectLst/>
                <a:highlight>
                  <a:srgbClr val="FFFFFF"/>
                </a:highlight>
              </a:rPr>
              <a:t>$ is the number of blocks in the indexed records</a:t>
            </a:r>
            <a:endParaRPr lang="en-IN" sz="2400" dirty="0"/>
          </a:p>
        </p:txBody>
      </p:sp>
      <p:pic>
        <p:nvPicPr>
          <p:cNvPr id="5" name="Picture 4"/>
          <p:cNvPicPr>
            <a:picLocks noChangeAspect="1"/>
          </p:cNvPicPr>
          <p:nvPr/>
        </p:nvPicPr>
        <p:blipFill>
          <a:blip r:embed="rId1"/>
          <a:stretch>
            <a:fillRect/>
          </a:stretch>
        </p:blipFill>
        <p:spPr>
          <a:xfrm>
            <a:off x="694944" y="2660904"/>
            <a:ext cx="4645153" cy="2916936"/>
          </a:xfrm>
          <a:prstGeom prst="rect">
            <a:avLst/>
          </a:prstGeom>
        </p:spPr>
      </p:pic>
      <p:sp>
        <p:nvSpPr>
          <p:cNvPr id="8" name="TextBox 7"/>
          <p:cNvSpPr txBox="1"/>
          <p:nvPr/>
        </p:nvSpPr>
        <p:spPr>
          <a:xfrm>
            <a:off x="5634990" y="2523744"/>
            <a:ext cx="6094476" cy="3416320"/>
          </a:xfrm>
          <a:prstGeom prst="rect">
            <a:avLst/>
          </a:prstGeom>
          <a:noFill/>
        </p:spPr>
        <p:txBody>
          <a:bodyPr wrap="square">
            <a:spAutoFit/>
          </a:bodyPr>
          <a:lstStyle/>
          <a:p>
            <a:pPr algn="l"/>
            <a:r>
              <a:rPr lang="en-US" sz="2400" b="0" i="0" dirty="0">
                <a:solidFill>
                  <a:srgbClr val="05192D"/>
                </a:solidFill>
                <a:effectLst/>
                <a:highlight>
                  <a:srgbClr val="FFFFFF"/>
                </a:highlight>
              </a:rPr>
              <a:t>The rightmost figure refers to the original data records divided into several blocks. Note that column containing the numbers 1,2,3,...,9 are the primary keys. The leftmost figure refers to the indexed entries where each entry consists of:</a:t>
            </a:r>
            <a:endParaRPr lang="en-US" sz="2400" b="0" i="0" dirty="0">
              <a:solidFill>
                <a:srgbClr val="05192D"/>
              </a:solidFill>
              <a:effectLst/>
              <a:highlight>
                <a:srgbClr val="FFFFFF"/>
              </a:highlight>
            </a:endParaRPr>
          </a:p>
          <a:p>
            <a:pPr algn="l">
              <a:buFont typeface="Arial" panose="020B0604020202020204" pitchFamily="34" charset="0"/>
              <a:buChar char="•"/>
            </a:pPr>
            <a:r>
              <a:rPr lang="en-US" sz="2400" b="0" i="0" dirty="0">
                <a:solidFill>
                  <a:srgbClr val="05192D"/>
                </a:solidFill>
                <a:effectLst/>
                <a:highlight>
                  <a:srgbClr val="FFFFFF"/>
                </a:highlight>
              </a:rPr>
              <a:t>The first entry of each data block (block anchor)</a:t>
            </a:r>
            <a:endParaRPr lang="en-US" sz="2400" b="0" i="0" dirty="0">
              <a:solidFill>
                <a:srgbClr val="05192D"/>
              </a:solidFill>
              <a:effectLst/>
              <a:highlight>
                <a:srgbClr val="FFFFFF"/>
              </a:highlight>
            </a:endParaRPr>
          </a:p>
          <a:p>
            <a:pPr algn="l">
              <a:buFont typeface="Arial" panose="020B0604020202020204" pitchFamily="34" charset="0"/>
              <a:buChar char="•"/>
            </a:pPr>
            <a:r>
              <a:rPr lang="en-US" sz="2400" b="0" i="0" dirty="0">
                <a:solidFill>
                  <a:srgbClr val="05192D"/>
                </a:solidFill>
                <a:effectLst/>
                <a:highlight>
                  <a:srgbClr val="FFFFFF"/>
                </a:highlight>
              </a:rPr>
              <a:t>The second entry denotes the block pointer.</a:t>
            </a:r>
            <a:endParaRPr lang="en-US" sz="2400" b="0" i="0" dirty="0">
              <a:solidFill>
                <a:srgbClr val="05192D"/>
              </a:solidFill>
              <a:effectLst/>
              <a:highlight>
                <a:srgbClr val="FFFFFF"/>
              </a:highligh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0" i="0" dirty="0">
                <a:effectLst/>
                <a:highlight>
                  <a:srgbClr val="FFFFFF"/>
                </a:highlight>
                <a:latin typeface="erdana"/>
              </a:rPr>
              <a:t>Clustering Index</a:t>
            </a:r>
            <a:br>
              <a:rPr lang="en-IN" b="0" i="0" dirty="0">
                <a:solidFill>
                  <a:srgbClr val="610B4B"/>
                </a:solidFill>
                <a:effectLst/>
                <a:highlight>
                  <a:srgbClr val="FFFFFF"/>
                </a:highlight>
                <a:latin typeface="erdana"/>
              </a:rPr>
            </a:br>
            <a:endParaRPr lang="en-IN" dirty="0"/>
          </a:p>
        </p:txBody>
      </p:sp>
      <p:sp>
        <p:nvSpPr>
          <p:cNvPr id="3" name="Content Placeholder 2"/>
          <p:cNvSpPr>
            <a:spLocks noGrp="1"/>
          </p:cNvSpPr>
          <p:nvPr>
            <p:ph idx="1"/>
          </p:nvPr>
        </p:nvSpPr>
        <p:spPr>
          <a:xfrm>
            <a:off x="838200" y="1095703"/>
            <a:ext cx="10515600" cy="5081260"/>
          </a:xfrm>
        </p:spPr>
        <p:txBody>
          <a:bodyPr/>
          <a:lstStyle/>
          <a:p>
            <a:pPr algn="just">
              <a:buFont typeface="Arial" panose="020B0604020202020204" pitchFamily="34" charset="0"/>
              <a:buChar char="•"/>
            </a:pPr>
            <a:r>
              <a:rPr lang="en-US" b="0" i="0" dirty="0">
                <a:solidFill>
                  <a:srgbClr val="000000"/>
                </a:solidFill>
                <a:effectLst/>
                <a:highlight>
                  <a:srgbClr val="FFFFFF"/>
                </a:highlight>
                <a:latin typeface="inter-regular"/>
              </a:rPr>
              <a:t>A clustered index can be defined as an ordered data </a:t>
            </a:r>
            <a:endParaRPr lang="en-US" b="0" i="0" dirty="0">
              <a:solidFill>
                <a:srgbClr val="000000"/>
              </a:solidFill>
              <a:effectLst/>
              <a:highlight>
                <a:srgbClr val="FFFFFF"/>
              </a:highlight>
              <a:latin typeface="inter-regular"/>
            </a:endParaRPr>
          </a:p>
          <a:p>
            <a:pPr algn="just">
              <a:buFont typeface="Arial" panose="020B0604020202020204" pitchFamily="34" charset="0"/>
              <a:buChar char="•"/>
            </a:pPr>
            <a:r>
              <a:rPr lang="en-US" b="0" i="0" dirty="0">
                <a:solidFill>
                  <a:srgbClr val="000000"/>
                </a:solidFill>
                <a:effectLst/>
                <a:highlight>
                  <a:srgbClr val="FFFFFF"/>
                </a:highlight>
                <a:latin typeface="inter-regular"/>
              </a:rPr>
              <a:t>file. Sometimes the index is created on non-primary </a:t>
            </a:r>
            <a:endParaRPr lang="en-US" b="0" i="0" dirty="0">
              <a:solidFill>
                <a:srgbClr val="000000"/>
              </a:solidFill>
              <a:effectLst/>
              <a:highlight>
                <a:srgbClr val="FFFFFF"/>
              </a:highlight>
              <a:latin typeface="inter-regular"/>
            </a:endParaRPr>
          </a:p>
          <a:p>
            <a:pPr algn="just">
              <a:buFont typeface="Arial" panose="020B0604020202020204" pitchFamily="34" charset="0"/>
              <a:buChar char="•"/>
            </a:pPr>
            <a:r>
              <a:rPr lang="en-US" b="0" i="0" dirty="0">
                <a:solidFill>
                  <a:srgbClr val="000000"/>
                </a:solidFill>
                <a:effectLst/>
                <a:highlight>
                  <a:srgbClr val="FFFFFF"/>
                </a:highlight>
                <a:latin typeface="inter-regular"/>
              </a:rPr>
              <a:t>key columns which may not be unique for each record.</a:t>
            </a:r>
            <a:endParaRPr lang="en-US" b="0" i="0" dirty="0">
              <a:solidFill>
                <a:srgbClr val="000000"/>
              </a:solidFill>
              <a:effectLst/>
              <a:highlight>
                <a:srgbClr val="FFFFFF"/>
              </a:highlight>
              <a:latin typeface="inter-regular"/>
            </a:endParaRPr>
          </a:p>
          <a:p>
            <a:pPr algn="just">
              <a:buFont typeface="Arial" panose="020B0604020202020204" pitchFamily="34" charset="0"/>
              <a:buChar char="•"/>
            </a:pPr>
            <a:r>
              <a:rPr lang="en-US" b="0" i="0" dirty="0">
                <a:solidFill>
                  <a:srgbClr val="000000"/>
                </a:solidFill>
                <a:effectLst/>
                <a:highlight>
                  <a:srgbClr val="FFFFFF"/>
                </a:highlight>
                <a:latin typeface="inter-regular"/>
              </a:rPr>
              <a:t>In this case, to identify the record faster, we will group </a:t>
            </a:r>
            <a:endParaRPr lang="en-US" b="0" i="0" dirty="0">
              <a:solidFill>
                <a:srgbClr val="000000"/>
              </a:solidFill>
              <a:effectLst/>
              <a:highlight>
                <a:srgbClr val="FFFFFF"/>
              </a:highlight>
              <a:latin typeface="inter-regular"/>
            </a:endParaRPr>
          </a:p>
          <a:p>
            <a:pPr algn="just">
              <a:buFont typeface="Arial" panose="020B0604020202020204" pitchFamily="34" charset="0"/>
              <a:buChar char="•"/>
            </a:pPr>
            <a:r>
              <a:rPr lang="en-US" b="0" i="0" dirty="0">
                <a:solidFill>
                  <a:srgbClr val="000000"/>
                </a:solidFill>
                <a:effectLst/>
                <a:highlight>
                  <a:srgbClr val="FFFFFF"/>
                </a:highlight>
                <a:latin typeface="inter-regular"/>
              </a:rPr>
              <a:t>two or more columns to get the unique value and </a:t>
            </a:r>
            <a:endParaRPr lang="en-US" b="0" i="0" dirty="0">
              <a:solidFill>
                <a:srgbClr val="000000"/>
              </a:solidFill>
              <a:effectLst/>
              <a:highlight>
                <a:srgbClr val="FFFFFF"/>
              </a:highlight>
              <a:latin typeface="inter-regular"/>
            </a:endParaRPr>
          </a:p>
          <a:p>
            <a:pPr algn="just">
              <a:buFont typeface="Arial" panose="020B0604020202020204" pitchFamily="34" charset="0"/>
              <a:buChar char="•"/>
            </a:pPr>
            <a:r>
              <a:rPr lang="en-US" b="0" i="0" dirty="0">
                <a:solidFill>
                  <a:srgbClr val="000000"/>
                </a:solidFill>
                <a:effectLst/>
                <a:highlight>
                  <a:srgbClr val="FFFFFF"/>
                </a:highlight>
                <a:latin typeface="inter-regular"/>
              </a:rPr>
              <a:t>create index out of them. This method is called a </a:t>
            </a:r>
            <a:endParaRPr lang="en-US" b="0" i="0" dirty="0">
              <a:solidFill>
                <a:srgbClr val="000000"/>
              </a:solidFill>
              <a:effectLst/>
              <a:highlight>
                <a:srgbClr val="FFFFFF"/>
              </a:highlight>
              <a:latin typeface="inter-regular"/>
            </a:endParaRPr>
          </a:p>
          <a:p>
            <a:pPr algn="just">
              <a:buFont typeface="Arial" panose="020B0604020202020204" pitchFamily="34" charset="0"/>
              <a:buChar char="•"/>
            </a:pPr>
            <a:r>
              <a:rPr lang="en-US" b="0" i="0" dirty="0">
                <a:solidFill>
                  <a:srgbClr val="000000"/>
                </a:solidFill>
                <a:effectLst/>
                <a:highlight>
                  <a:srgbClr val="FFFFFF"/>
                </a:highlight>
                <a:latin typeface="inter-regular"/>
              </a:rPr>
              <a:t>clustering index.</a:t>
            </a:r>
            <a:endParaRPr lang="en-US" b="0" i="0" dirty="0">
              <a:solidFill>
                <a:srgbClr val="000000"/>
              </a:solidFill>
              <a:effectLst/>
              <a:highlight>
                <a:srgbClr val="FFFFFF"/>
              </a:highlight>
              <a:latin typeface="inter-regular"/>
            </a:endParaRPr>
          </a:p>
          <a:p>
            <a:pPr algn="just">
              <a:buFont typeface="Arial" panose="020B0604020202020204" pitchFamily="34" charset="0"/>
              <a:buChar char="•"/>
            </a:pPr>
            <a:r>
              <a:rPr lang="en-US" b="0" i="0" dirty="0">
                <a:solidFill>
                  <a:srgbClr val="000000"/>
                </a:solidFill>
                <a:effectLst/>
                <a:highlight>
                  <a:srgbClr val="FFFFFF"/>
                </a:highlight>
                <a:latin typeface="inter-regular"/>
              </a:rPr>
              <a:t>The records which have similar characteristics are </a:t>
            </a:r>
            <a:endParaRPr lang="en-US" b="0" i="0" dirty="0">
              <a:solidFill>
                <a:srgbClr val="000000"/>
              </a:solidFill>
              <a:effectLst/>
              <a:highlight>
                <a:srgbClr val="FFFFFF"/>
              </a:highlight>
              <a:latin typeface="inter-regular"/>
            </a:endParaRPr>
          </a:p>
          <a:p>
            <a:pPr algn="just">
              <a:buFont typeface="Arial" panose="020B0604020202020204" pitchFamily="34" charset="0"/>
              <a:buChar char="•"/>
            </a:pPr>
            <a:r>
              <a:rPr lang="en-US" b="0" i="0" dirty="0">
                <a:solidFill>
                  <a:srgbClr val="000000"/>
                </a:solidFill>
                <a:effectLst/>
                <a:highlight>
                  <a:srgbClr val="FFFFFF"/>
                </a:highlight>
                <a:latin typeface="inter-regular"/>
              </a:rPr>
              <a:t>grouped, and indexes are created for these group.</a:t>
            </a:r>
            <a:endParaRPr lang="en-US" b="0" i="0" dirty="0">
              <a:solidFill>
                <a:srgbClr val="000000"/>
              </a:solidFill>
              <a:effectLst/>
              <a:highlight>
                <a:srgbClr val="FFFFFF"/>
              </a:highlight>
              <a:latin typeface="inter-regular"/>
            </a:endParaRPr>
          </a:p>
          <a:p>
            <a:endParaRPr lang="en-IN"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18241"/>
            <a:ext cx="10515600" cy="6058722"/>
          </a:xfrm>
        </p:spPr>
        <p:txBody>
          <a:bodyPr/>
          <a:lstStyle/>
          <a:p>
            <a:r>
              <a:rPr lang="en-US" b="1" i="0" dirty="0">
                <a:solidFill>
                  <a:srgbClr val="333333"/>
                </a:solidFill>
                <a:effectLst/>
                <a:highlight>
                  <a:srgbClr val="FFFFFF"/>
                </a:highlight>
                <a:latin typeface="inter-bold"/>
              </a:rPr>
              <a:t>Example</a:t>
            </a:r>
            <a:r>
              <a:rPr lang="en-US" b="0" i="0" dirty="0">
                <a:solidFill>
                  <a:srgbClr val="333333"/>
                </a:solidFill>
                <a:effectLst/>
                <a:highlight>
                  <a:srgbClr val="FFFFFF"/>
                </a:highlight>
                <a:latin typeface="inter-regular"/>
              </a:rPr>
              <a:t>: suppose a company contains several </a:t>
            </a:r>
            <a:endParaRPr lang="en-US" b="0" i="0" dirty="0">
              <a:solidFill>
                <a:srgbClr val="333333"/>
              </a:solidFill>
              <a:effectLst/>
              <a:highlight>
                <a:srgbClr val="FFFFFF"/>
              </a:highlight>
              <a:latin typeface="inter-regular"/>
            </a:endParaRPr>
          </a:p>
          <a:p>
            <a:r>
              <a:rPr lang="en-US" b="0" i="0" dirty="0">
                <a:solidFill>
                  <a:srgbClr val="333333"/>
                </a:solidFill>
                <a:effectLst/>
                <a:highlight>
                  <a:srgbClr val="FFFFFF"/>
                </a:highlight>
                <a:latin typeface="inter-regular"/>
              </a:rPr>
              <a:t>employees in each department. Suppose we use a </a:t>
            </a:r>
            <a:endParaRPr lang="en-US" b="0" i="0" dirty="0">
              <a:solidFill>
                <a:srgbClr val="333333"/>
              </a:solidFill>
              <a:effectLst/>
              <a:highlight>
                <a:srgbClr val="FFFFFF"/>
              </a:highlight>
              <a:latin typeface="inter-regular"/>
            </a:endParaRPr>
          </a:p>
          <a:p>
            <a:r>
              <a:rPr lang="en-US" b="0" i="0" dirty="0">
                <a:solidFill>
                  <a:srgbClr val="333333"/>
                </a:solidFill>
                <a:effectLst/>
                <a:highlight>
                  <a:srgbClr val="FFFFFF"/>
                </a:highlight>
                <a:latin typeface="inter-regular"/>
              </a:rPr>
              <a:t>clustering index, where all employees which belong to </a:t>
            </a:r>
            <a:endParaRPr lang="en-US" b="0" i="0" dirty="0">
              <a:solidFill>
                <a:srgbClr val="333333"/>
              </a:solidFill>
              <a:effectLst/>
              <a:highlight>
                <a:srgbClr val="FFFFFF"/>
              </a:highlight>
              <a:latin typeface="inter-regular"/>
            </a:endParaRPr>
          </a:p>
          <a:p>
            <a:r>
              <a:rPr lang="en-US" b="0" i="0" dirty="0">
                <a:solidFill>
                  <a:srgbClr val="333333"/>
                </a:solidFill>
                <a:effectLst/>
                <a:highlight>
                  <a:srgbClr val="FFFFFF"/>
                </a:highlight>
                <a:latin typeface="inter-regular"/>
              </a:rPr>
              <a:t>the same </a:t>
            </a:r>
            <a:r>
              <a:rPr lang="en-US" b="0" i="0" dirty="0" err="1">
                <a:solidFill>
                  <a:srgbClr val="333333"/>
                </a:solidFill>
                <a:effectLst/>
                <a:highlight>
                  <a:srgbClr val="FFFFFF"/>
                </a:highlight>
                <a:latin typeface="inter-regular"/>
              </a:rPr>
              <a:t>Dept_ID</a:t>
            </a:r>
            <a:r>
              <a:rPr lang="en-US" b="0" i="0" dirty="0">
                <a:solidFill>
                  <a:srgbClr val="333333"/>
                </a:solidFill>
                <a:effectLst/>
                <a:highlight>
                  <a:srgbClr val="FFFFFF"/>
                </a:highlight>
                <a:latin typeface="inter-regular"/>
              </a:rPr>
              <a:t> are considered within a single cluster, </a:t>
            </a:r>
            <a:endParaRPr lang="en-US" b="0" i="0" dirty="0">
              <a:solidFill>
                <a:srgbClr val="333333"/>
              </a:solidFill>
              <a:effectLst/>
              <a:highlight>
                <a:srgbClr val="FFFFFF"/>
              </a:highlight>
              <a:latin typeface="inter-regular"/>
            </a:endParaRPr>
          </a:p>
          <a:p>
            <a:r>
              <a:rPr lang="en-US" b="0" i="0" dirty="0">
                <a:solidFill>
                  <a:srgbClr val="333333"/>
                </a:solidFill>
                <a:effectLst/>
                <a:highlight>
                  <a:srgbClr val="FFFFFF"/>
                </a:highlight>
                <a:latin typeface="inter-regular"/>
              </a:rPr>
              <a:t>and index pointers point to the cluster as a whole. Here </a:t>
            </a:r>
            <a:endParaRPr lang="en-US" b="0" i="0" dirty="0">
              <a:solidFill>
                <a:srgbClr val="333333"/>
              </a:solidFill>
              <a:effectLst/>
              <a:highlight>
                <a:srgbClr val="FFFFFF"/>
              </a:highlight>
              <a:latin typeface="inter-regular"/>
            </a:endParaRPr>
          </a:p>
          <a:p>
            <a:r>
              <a:rPr lang="en-US" b="0" i="0" dirty="0" err="1">
                <a:solidFill>
                  <a:srgbClr val="333333"/>
                </a:solidFill>
                <a:effectLst/>
                <a:highlight>
                  <a:srgbClr val="FFFFFF"/>
                </a:highlight>
                <a:latin typeface="inter-regular"/>
              </a:rPr>
              <a:t>Dept_Id</a:t>
            </a:r>
            <a:r>
              <a:rPr lang="en-US" b="0" i="0" dirty="0">
                <a:solidFill>
                  <a:srgbClr val="333333"/>
                </a:solidFill>
                <a:effectLst/>
                <a:highlight>
                  <a:srgbClr val="FFFFFF"/>
                </a:highlight>
                <a:latin typeface="inter-regular"/>
              </a:rPr>
              <a:t> is a non-unique key.</a:t>
            </a:r>
            <a:endParaRPr lang="en-IN" dirty="0"/>
          </a:p>
        </p:txBody>
      </p:sp>
      <p:pic>
        <p:nvPicPr>
          <p:cNvPr id="5" name="Picture 4"/>
          <p:cNvPicPr>
            <a:picLocks noChangeAspect="1"/>
          </p:cNvPicPr>
          <p:nvPr/>
        </p:nvPicPr>
        <p:blipFill>
          <a:blip r:embed="rId1"/>
          <a:stretch>
            <a:fillRect/>
          </a:stretch>
        </p:blipFill>
        <p:spPr>
          <a:xfrm>
            <a:off x="3535478" y="2569780"/>
            <a:ext cx="4663844" cy="380785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Secondary Indexing</a:t>
            </a:r>
            <a:endParaRPr lang="en-IN" dirty="0"/>
          </a:p>
        </p:txBody>
      </p:sp>
      <p:sp>
        <p:nvSpPr>
          <p:cNvPr id="3" name="Content Placeholder 2"/>
          <p:cNvSpPr>
            <a:spLocks noGrp="1"/>
          </p:cNvSpPr>
          <p:nvPr>
            <p:ph idx="1"/>
          </p:nvPr>
        </p:nvSpPr>
        <p:spPr>
          <a:xfrm>
            <a:off x="838200" y="1297858"/>
            <a:ext cx="10515600" cy="4879105"/>
          </a:xfrm>
        </p:spPr>
        <p:txBody>
          <a:bodyPr>
            <a:normAutofit lnSpcReduction="10000"/>
          </a:bodyPr>
          <a:lstStyle/>
          <a:p>
            <a:r>
              <a:rPr lang="en-US" b="0" i="0" dirty="0">
                <a:solidFill>
                  <a:srgbClr val="333333"/>
                </a:solidFill>
                <a:effectLst/>
                <a:highlight>
                  <a:srgbClr val="FFFFFF"/>
                </a:highlight>
                <a:latin typeface="inter-regular"/>
              </a:rPr>
              <a:t>In secondary indexing, to reduce the size of mapping, </a:t>
            </a:r>
            <a:endParaRPr lang="en-US" b="0" i="0" dirty="0">
              <a:solidFill>
                <a:srgbClr val="333333"/>
              </a:solidFill>
              <a:effectLst/>
              <a:highlight>
                <a:srgbClr val="FFFFFF"/>
              </a:highlight>
              <a:latin typeface="inter-regular"/>
            </a:endParaRPr>
          </a:p>
          <a:p>
            <a:r>
              <a:rPr lang="en-US" b="0" i="0" dirty="0">
                <a:solidFill>
                  <a:srgbClr val="333333"/>
                </a:solidFill>
                <a:effectLst/>
                <a:highlight>
                  <a:srgbClr val="FFFFFF"/>
                </a:highlight>
                <a:latin typeface="inter-regular"/>
              </a:rPr>
              <a:t>another level of indexing is introduced. </a:t>
            </a:r>
            <a:endParaRPr lang="en-US" b="0" i="0" dirty="0">
              <a:solidFill>
                <a:srgbClr val="333333"/>
              </a:solidFill>
              <a:effectLst/>
              <a:highlight>
                <a:srgbClr val="FFFFFF"/>
              </a:highlight>
              <a:latin typeface="inter-regular"/>
            </a:endParaRPr>
          </a:p>
          <a:p>
            <a:r>
              <a:rPr lang="en-US" b="0" i="0" dirty="0">
                <a:solidFill>
                  <a:srgbClr val="333333"/>
                </a:solidFill>
                <a:effectLst/>
                <a:highlight>
                  <a:srgbClr val="FFFFFF"/>
                </a:highlight>
                <a:latin typeface="inter-regular"/>
              </a:rPr>
              <a:t>In this method, the huge range for the columns is </a:t>
            </a:r>
            <a:endParaRPr lang="en-US" b="0" i="0" dirty="0">
              <a:solidFill>
                <a:srgbClr val="333333"/>
              </a:solidFill>
              <a:effectLst/>
              <a:highlight>
                <a:srgbClr val="FFFFFF"/>
              </a:highlight>
              <a:latin typeface="inter-regular"/>
            </a:endParaRPr>
          </a:p>
          <a:p>
            <a:r>
              <a:rPr lang="en-US" b="0" i="0" dirty="0">
                <a:solidFill>
                  <a:srgbClr val="333333"/>
                </a:solidFill>
                <a:effectLst/>
                <a:highlight>
                  <a:srgbClr val="FFFFFF"/>
                </a:highlight>
                <a:latin typeface="inter-regular"/>
              </a:rPr>
              <a:t>selected initially so that the mapping size of the first </a:t>
            </a:r>
            <a:endParaRPr lang="en-US" b="0" i="0" dirty="0">
              <a:solidFill>
                <a:srgbClr val="333333"/>
              </a:solidFill>
              <a:effectLst/>
              <a:highlight>
                <a:srgbClr val="FFFFFF"/>
              </a:highlight>
              <a:latin typeface="inter-regular"/>
            </a:endParaRPr>
          </a:p>
          <a:p>
            <a:r>
              <a:rPr lang="en-US" b="0" i="0" dirty="0">
                <a:solidFill>
                  <a:srgbClr val="333333"/>
                </a:solidFill>
                <a:effectLst/>
                <a:highlight>
                  <a:srgbClr val="FFFFFF"/>
                </a:highlight>
                <a:latin typeface="inter-regular"/>
              </a:rPr>
              <a:t>level becomes small. </a:t>
            </a:r>
            <a:endParaRPr lang="en-US" b="0" i="0" dirty="0">
              <a:solidFill>
                <a:srgbClr val="333333"/>
              </a:solidFill>
              <a:effectLst/>
              <a:highlight>
                <a:srgbClr val="FFFFFF"/>
              </a:highlight>
              <a:latin typeface="inter-regular"/>
            </a:endParaRPr>
          </a:p>
          <a:p>
            <a:r>
              <a:rPr lang="en-US" b="0" i="0" dirty="0">
                <a:solidFill>
                  <a:srgbClr val="333333"/>
                </a:solidFill>
                <a:effectLst/>
                <a:highlight>
                  <a:srgbClr val="FFFFFF"/>
                </a:highlight>
                <a:latin typeface="inter-regular"/>
              </a:rPr>
              <a:t>Then each range is further divided into smaller ranges. </a:t>
            </a:r>
            <a:endParaRPr lang="en-US" b="0" i="0" dirty="0">
              <a:solidFill>
                <a:srgbClr val="333333"/>
              </a:solidFill>
              <a:effectLst/>
              <a:highlight>
                <a:srgbClr val="FFFFFF"/>
              </a:highlight>
              <a:latin typeface="inter-regular"/>
            </a:endParaRPr>
          </a:p>
          <a:p>
            <a:r>
              <a:rPr lang="en-US" b="0" i="0" dirty="0">
                <a:solidFill>
                  <a:srgbClr val="333333"/>
                </a:solidFill>
                <a:effectLst/>
                <a:highlight>
                  <a:srgbClr val="FFFFFF"/>
                </a:highlight>
                <a:latin typeface="inter-regular"/>
              </a:rPr>
              <a:t>The mapping of the first level is stored in the primary </a:t>
            </a:r>
            <a:endParaRPr lang="en-US" b="0" i="0" dirty="0">
              <a:solidFill>
                <a:srgbClr val="333333"/>
              </a:solidFill>
              <a:effectLst/>
              <a:highlight>
                <a:srgbClr val="FFFFFF"/>
              </a:highlight>
              <a:latin typeface="inter-regular"/>
            </a:endParaRPr>
          </a:p>
          <a:p>
            <a:r>
              <a:rPr lang="en-US" b="0" i="0" dirty="0">
                <a:solidFill>
                  <a:srgbClr val="333333"/>
                </a:solidFill>
                <a:effectLst/>
                <a:highlight>
                  <a:srgbClr val="FFFFFF"/>
                </a:highlight>
                <a:latin typeface="inter-regular"/>
              </a:rPr>
              <a:t>memory, so that address fetch is faster. </a:t>
            </a:r>
            <a:endParaRPr lang="en-US" b="0" i="0" dirty="0">
              <a:solidFill>
                <a:srgbClr val="333333"/>
              </a:solidFill>
              <a:effectLst/>
              <a:highlight>
                <a:srgbClr val="FFFFFF"/>
              </a:highlight>
              <a:latin typeface="inter-regular"/>
            </a:endParaRPr>
          </a:p>
          <a:p>
            <a:r>
              <a:rPr lang="en-US" b="0" i="0" dirty="0">
                <a:solidFill>
                  <a:srgbClr val="333333"/>
                </a:solidFill>
                <a:effectLst/>
                <a:highlight>
                  <a:srgbClr val="FFFFFF"/>
                </a:highlight>
                <a:latin typeface="inter-regular"/>
              </a:rPr>
              <a:t>The mapping of the second level and actual data are </a:t>
            </a:r>
            <a:endParaRPr lang="en-US" b="0" i="0" dirty="0">
              <a:solidFill>
                <a:srgbClr val="333333"/>
              </a:solidFill>
              <a:effectLst/>
              <a:highlight>
                <a:srgbClr val="FFFFFF"/>
              </a:highlight>
              <a:latin typeface="inter-regular"/>
            </a:endParaRPr>
          </a:p>
          <a:p>
            <a:r>
              <a:rPr lang="en-US" b="0" i="0" dirty="0">
                <a:solidFill>
                  <a:srgbClr val="333333"/>
                </a:solidFill>
                <a:effectLst/>
                <a:highlight>
                  <a:srgbClr val="FFFFFF"/>
                </a:highlight>
                <a:latin typeface="inter-regular"/>
              </a:rPr>
              <a:t>stored in the secondary memory (hard disk).</a:t>
            </a:r>
            <a:endParaRPr lang="en-IN"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1"/>
          <a:stretch>
            <a:fillRect/>
          </a:stretch>
        </p:blipFill>
        <p:spPr>
          <a:xfrm>
            <a:off x="1700981" y="0"/>
            <a:ext cx="5465688" cy="3657600"/>
          </a:xfrm>
        </p:spPr>
      </p:pic>
      <p:sp>
        <p:nvSpPr>
          <p:cNvPr id="7" name="TextBox 6"/>
          <p:cNvSpPr txBox="1"/>
          <p:nvPr/>
        </p:nvSpPr>
        <p:spPr>
          <a:xfrm>
            <a:off x="1021507" y="3598606"/>
            <a:ext cx="10669047" cy="3830955"/>
          </a:xfrm>
          <a:prstGeom prst="rect">
            <a:avLst/>
          </a:prstGeom>
          <a:noFill/>
        </p:spPr>
        <p:txBody>
          <a:bodyPr wrap="square">
            <a:spAutoFit/>
          </a:bodyPr>
          <a:lstStyle/>
          <a:p>
            <a:pPr algn="just"/>
            <a:r>
              <a:rPr lang="en-US" sz="2300" b="1" i="0" dirty="0">
                <a:solidFill>
                  <a:srgbClr val="333333"/>
                </a:solidFill>
                <a:effectLst/>
                <a:highlight>
                  <a:srgbClr val="FFFFFF"/>
                </a:highlight>
                <a:latin typeface="inter-bold"/>
              </a:rPr>
              <a:t>For example:</a:t>
            </a:r>
            <a:endParaRPr lang="en-US" sz="2300" b="0" i="0" dirty="0">
              <a:solidFill>
                <a:srgbClr val="333333"/>
              </a:solidFill>
              <a:effectLst/>
              <a:highlight>
                <a:srgbClr val="FFFFFF"/>
              </a:highlight>
              <a:latin typeface="inter-regular"/>
            </a:endParaRPr>
          </a:p>
          <a:p>
            <a:pPr algn="just">
              <a:buFont typeface="Arial" panose="020B0604020202020204" pitchFamily="34" charset="0"/>
              <a:buChar char="•"/>
            </a:pPr>
            <a:r>
              <a:rPr lang="en-US" sz="2300" b="0" i="0" dirty="0">
                <a:solidFill>
                  <a:srgbClr val="000000"/>
                </a:solidFill>
                <a:effectLst/>
                <a:highlight>
                  <a:srgbClr val="FFFFFF"/>
                </a:highlight>
                <a:latin typeface="inter-regular"/>
              </a:rPr>
              <a:t>If you want to find the record of roll 111 in the diagram, then it </a:t>
            </a:r>
            <a:endParaRPr lang="en-US" sz="2300" b="0" i="0" dirty="0">
              <a:solidFill>
                <a:srgbClr val="000000"/>
              </a:solidFill>
              <a:effectLst/>
              <a:highlight>
                <a:srgbClr val="FFFFFF"/>
              </a:highlight>
              <a:latin typeface="inter-regular"/>
            </a:endParaRPr>
          </a:p>
          <a:p>
            <a:pPr algn="just">
              <a:buFont typeface="Arial" panose="020B0604020202020204" pitchFamily="34" charset="0"/>
              <a:buChar char="•"/>
            </a:pPr>
            <a:r>
              <a:rPr lang="en-US" sz="2300" b="0" i="0" dirty="0">
                <a:solidFill>
                  <a:srgbClr val="000000"/>
                </a:solidFill>
                <a:effectLst/>
                <a:highlight>
                  <a:srgbClr val="FFFFFF"/>
                </a:highlight>
                <a:latin typeface="inter-regular"/>
              </a:rPr>
              <a:t>will search the highest entry which is smaller than or equal to 111 in </a:t>
            </a:r>
            <a:endParaRPr lang="en-US" sz="2300" b="0" i="0" dirty="0">
              <a:solidFill>
                <a:srgbClr val="000000"/>
              </a:solidFill>
              <a:effectLst/>
              <a:highlight>
                <a:srgbClr val="FFFFFF"/>
              </a:highlight>
              <a:latin typeface="inter-regular"/>
            </a:endParaRPr>
          </a:p>
          <a:p>
            <a:pPr algn="just">
              <a:buFont typeface="Arial" panose="020B0604020202020204" pitchFamily="34" charset="0"/>
              <a:buChar char="•"/>
            </a:pPr>
            <a:r>
              <a:rPr lang="en-US" sz="2300" b="0" i="0" dirty="0">
                <a:solidFill>
                  <a:srgbClr val="000000"/>
                </a:solidFill>
                <a:effectLst/>
                <a:highlight>
                  <a:srgbClr val="FFFFFF"/>
                </a:highlight>
                <a:latin typeface="inter-regular"/>
              </a:rPr>
              <a:t>the first level index. It will get 100 at this level.</a:t>
            </a:r>
            <a:endParaRPr lang="en-US" sz="2300" b="0" i="0" dirty="0">
              <a:solidFill>
                <a:srgbClr val="000000"/>
              </a:solidFill>
              <a:effectLst/>
              <a:highlight>
                <a:srgbClr val="FFFFFF"/>
              </a:highlight>
              <a:latin typeface="inter-regular"/>
            </a:endParaRPr>
          </a:p>
          <a:p>
            <a:pPr algn="just">
              <a:buFont typeface="Arial" panose="020B0604020202020204" pitchFamily="34" charset="0"/>
              <a:buChar char="•"/>
            </a:pPr>
            <a:r>
              <a:rPr lang="en-US" sz="2300" b="0" i="0" dirty="0">
                <a:solidFill>
                  <a:srgbClr val="000000"/>
                </a:solidFill>
                <a:effectLst/>
                <a:highlight>
                  <a:srgbClr val="FFFFFF"/>
                </a:highlight>
                <a:latin typeface="inter-regular"/>
              </a:rPr>
              <a:t>Then in the second index level, again it does max (111) &lt;= 111 and gets 110. Now using the address 110, it goes to the data block and </a:t>
            </a:r>
            <a:endParaRPr lang="en-US" sz="2300" b="0" i="0" dirty="0">
              <a:solidFill>
                <a:srgbClr val="000000"/>
              </a:solidFill>
              <a:effectLst/>
              <a:highlight>
                <a:srgbClr val="FFFFFF"/>
              </a:highlight>
              <a:latin typeface="inter-regular"/>
            </a:endParaRPr>
          </a:p>
          <a:p>
            <a:pPr algn="just">
              <a:buFont typeface="Arial" panose="020B0604020202020204" pitchFamily="34" charset="0"/>
              <a:buChar char="•"/>
            </a:pPr>
            <a:r>
              <a:rPr lang="en-US" sz="2300" b="0" i="0" dirty="0">
                <a:solidFill>
                  <a:srgbClr val="000000"/>
                </a:solidFill>
                <a:effectLst/>
                <a:highlight>
                  <a:srgbClr val="FFFFFF"/>
                </a:highlight>
                <a:latin typeface="inter-regular"/>
              </a:rPr>
              <a:t>starts searching each record till it gets 111.</a:t>
            </a:r>
            <a:endParaRPr lang="en-US" sz="2300" b="0" i="0" dirty="0">
              <a:solidFill>
                <a:srgbClr val="000000"/>
              </a:solidFill>
              <a:effectLst/>
              <a:highlight>
                <a:srgbClr val="FFFFFF"/>
              </a:highlight>
              <a:latin typeface="inter-regular"/>
            </a:endParaRPr>
          </a:p>
          <a:p>
            <a:pPr algn="just">
              <a:buFont typeface="Arial" panose="020B0604020202020204" pitchFamily="34" charset="0"/>
              <a:buChar char="•"/>
            </a:pPr>
            <a:r>
              <a:rPr lang="en-US" sz="2300" b="0" i="0" dirty="0">
                <a:solidFill>
                  <a:srgbClr val="000000"/>
                </a:solidFill>
                <a:effectLst/>
                <a:highlight>
                  <a:srgbClr val="FFFFFF"/>
                </a:highlight>
                <a:latin typeface="inter-regular"/>
              </a:rPr>
              <a:t>This is how a search is performed in this method. Inserting, updating or deleting is also done in the same manner.</a:t>
            </a:r>
            <a:endParaRPr lang="en-US" sz="2300" b="0" i="0" dirty="0">
              <a:solidFill>
                <a:srgbClr val="000000"/>
              </a:solidFill>
              <a:effectLst/>
              <a:highlight>
                <a:srgbClr val="FFFFFF"/>
              </a:highlight>
              <a:latin typeface="inter-regular"/>
            </a:endParaRPr>
          </a:p>
          <a:p>
            <a:br>
              <a:rPr lang="en-US" dirty="0"/>
            </a:br>
            <a:endParaRPr lang="en-IN"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 Level Indexing</a:t>
            </a:r>
            <a:endParaRPr lang="en-IN" dirty="0"/>
          </a:p>
        </p:txBody>
      </p:sp>
      <p:sp>
        <p:nvSpPr>
          <p:cNvPr id="3" name="Content Placeholder 2"/>
          <p:cNvSpPr>
            <a:spLocks noGrp="1"/>
          </p:cNvSpPr>
          <p:nvPr>
            <p:ph idx="1"/>
          </p:nvPr>
        </p:nvSpPr>
        <p:spPr>
          <a:xfrm>
            <a:off x="838200" y="1376516"/>
            <a:ext cx="10515600" cy="4800447"/>
          </a:xfrm>
        </p:spPr>
        <p:txBody>
          <a:bodyPr>
            <a:normAutofit/>
          </a:bodyPr>
          <a:lstStyle/>
          <a:p>
            <a:pPr algn="just"/>
            <a:r>
              <a:rPr lang="en-US" b="0" i="0" dirty="0">
                <a:solidFill>
                  <a:srgbClr val="000000"/>
                </a:solidFill>
                <a:effectLst/>
              </a:rPr>
              <a:t>As the size of the database increases, the size of the index also increases. But, storing a single- level index in main memory may not be practical due to its large size, which requires multiple disk accesses.</a:t>
            </a:r>
            <a:endParaRPr lang="en-US" b="0" i="0" dirty="0">
              <a:solidFill>
                <a:srgbClr val="000000"/>
              </a:solidFill>
              <a:effectLst/>
            </a:endParaRPr>
          </a:p>
          <a:p>
            <a:pPr algn="just"/>
            <a:r>
              <a:rPr lang="en-US" b="0" i="0" dirty="0">
                <a:solidFill>
                  <a:srgbClr val="000000"/>
                </a:solidFill>
                <a:effectLst/>
              </a:rPr>
              <a:t>To solve this problem multilevel indexing is used. This technique breaks down the main block into smaller blocks. Each smaller block can be stored in a single block. The outer block is further divided into inner blocks, each of which is associated with a data block. This approach reduces overhead and makes it easier to store the index in main memory.</a:t>
            </a:r>
            <a:endParaRPr lang="en-US" b="0" i="0" dirty="0">
              <a:solidFill>
                <a:srgbClr val="000000"/>
              </a:solidFill>
              <a:effectLst/>
            </a:endParaRPr>
          </a:p>
          <a:p>
            <a:pPr algn="just"/>
            <a:endParaRPr lang="en-US" b="0" i="0" dirty="0">
              <a:solidFill>
                <a:srgbClr val="000000"/>
              </a:solidFill>
              <a:effectLst/>
            </a:endParaRPr>
          </a:p>
          <a:p>
            <a:endParaRPr lang="en-IN"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24465"/>
            <a:ext cx="10515600" cy="5852498"/>
          </a:xfrm>
        </p:spPr>
        <p:txBody>
          <a:bodyPr/>
          <a:lstStyle/>
          <a:p>
            <a:pPr algn="just"/>
            <a:r>
              <a:rPr lang="en-US" b="0" i="0" dirty="0">
                <a:solidFill>
                  <a:srgbClr val="000000"/>
                </a:solidFill>
                <a:effectLst/>
                <a:latin typeface="Verdana" panose="020B0604030504040204" pitchFamily="34" charset="0"/>
              </a:rPr>
              <a:t>Multilevel indexes refer to a hierarchical structure of indexes. Here, each level of the index provides a more detailed reference to the data. It allows faster data retrieval, reduces disk access, and improves query performance. Multilevel indexes are essential in large databases where traditional indexes are not efficient.</a:t>
            </a:r>
            <a:endParaRPr lang="en-US" b="0" i="0" dirty="0">
              <a:solidFill>
                <a:srgbClr val="000000"/>
              </a:solidFill>
              <a:effectLst/>
              <a:latin typeface="Verdana" panose="020B0604030504040204" pitchFamily="34" charset="0"/>
            </a:endParaRPr>
          </a:p>
          <a:p>
            <a:pPr algn="just"/>
            <a:r>
              <a:rPr lang="en-US" b="0" i="0" dirty="0">
                <a:solidFill>
                  <a:srgbClr val="000000"/>
                </a:solidFill>
                <a:effectLst/>
                <a:latin typeface="Verdana" panose="020B0604030504040204" pitchFamily="34" charset="0"/>
              </a:rPr>
              <a:t>A multi-level index can be created for any first-level index (primary, secondary, or clustering) that has more than one disk block. It's like a search tree, but adding or removing new index entries is challenging because every level of the index is an ordered file.</a:t>
            </a:r>
            <a:endParaRPr lang="en-US" b="0" i="0" dirty="0">
              <a:solidFill>
                <a:srgbClr val="000000"/>
              </a:solidFill>
              <a:effectLst/>
              <a:latin typeface="Verdana" panose="020B0604030504040204" pitchFamily="34" charset="0"/>
            </a:endParaRPr>
          </a:p>
          <a:p>
            <a:pPr marL="0" indent="0">
              <a:buNone/>
            </a:pPr>
            <a:br>
              <a:rPr lang="en-US" dirty="0"/>
            </a:br>
            <a:endParaRPr lang="en-IN"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1"/>
          <a:stretch>
            <a:fillRect/>
          </a:stretch>
        </p:blipFill>
        <p:spPr>
          <a:xfrm>
            <a:off x="2595716" y="994692"/>
            <a:ext cx="7167716" cy="4473328"/>
          </a:xfr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Dynamic Multilevel Indexing</a:t>
            </a:r>
            <a:endParaRPr lang="en-IN" dirty="0"/>
          </a:p>
        </p:txBody>
      </p:sp>
      <p:sp>
        <p:nvSpPr>
          <p:cNvPr id="3" name="Content Placeholder 2"/>
          <p:cNvSpPr>
            <a:spLocks noGrp="1"/>
          </p:cNvSpPr>
          <p:nvPr>
            <p:ph idx="1"/>
          </p:nvPr>
        </p:nvSpPr>
        <p:spPr/>
        <p:txBody>
          <a:bodyPr/>
          <a:lstStyle/>
          <a:p>
            <a:r>
              <a:rPr lang="en-US" b="0" i="0" dirty="0">
                <a:effectLst/>
                <a:highlight>
                  <a:srgbClr val="FFFFFF"/>
                </a:highlight>
              </a:rPr>
              <a:t>To retain the benefits of using multilevel indexing while reducing index insertion and deletion problems, designers adopted a multilevel index called a dynamic multilevel index that leaves some space in each of its blocks for inserting new entries and uses appropriate insertion/deletion algorithms for creating and deleting new index blocks when the data file grows and shrinks.</a:t>
            </a:r>
            <a:endParaRPr lang="en-US" b="0" i="0" dirty="0">
              <a:effectLst/>
              <a:highlight>
                <a:srgbClr val="FFFFFF"/>
              </a:highlight>
            </a:endParaRPr>
          </a:p>
          <a:p>
            <a:r>
              <a:rPr lang="en-US" b="0" i="0" dirty="0">
                <a:effectLst/>
                <a:highlight>
                  <a:srgbClr val="FFFFFF"/>
                </a:highlight>
              </a:rPr>
              <a:t>B-trees and B</a:t>
            </a:r>
            <a:r>
              <a:rPr lang="en-US" b="0" i="0" baseline="30000" dirty="0">
                <a:effectLst/>
                <a:highlight>
                  <a:srgbClr val="FFFFFF"/>
                </a:highlight>
              </a:rPr>
              <a:t>+</a:t>
            </a:r>
            <a:r>
              <a:rPr lang="en-US" b="0" i="0" dirty="0">
                <a:effectLst/>
                <a:highlight>
                  <a:srgbClr val="FFFFFF"/>
                </a:highlight>
              </a:rPr>
              <a:t>-trees are special cases of the well-known search data structure known as a </a:t>
            </a:r>
            <a:r>
              <a:rPr lang="en-US" b="1" i="0" dirty="0">
                <a:effectLst/>
                <a:highlight>
                  <a:srgbClr val="FFFFFF"/>
                </a:highlight>
              </a:rPr>
              <a:t>tree.</a:t>
            </a:r>
            <a:endParaRPr lang="en-IN"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88604"/>
          </a:xfrm>
        </p:spPr>
        <p:txBody>
          <a:bodyPr>
            <a:normAutofit fontScale="90000"/>
          </a:bodyPr>
          <a:lstStyle/>
          <a:p>
            <a:r>
              <a:rPr lang="en-US" dirty="0"/>
              <a:t>B-Tree</a:t>
            </a:r>
            <a:endParaRPr lang="en-IN" dirty="0"/>
          </a:p>
        </p:txBody>
      </p:sp>
      <p:sp>
        <p:nvSpPr>
          <p:cNvPr id="3" name="Content Placeholder 2"/>
          <p:cNvSpPr>
            <a:spLocks noGrp="1"/>
          </p:cNvSpPr>
          <p:nvPr>
            <p:ph idx="1"/>
          </p:nvPr>
        </p:nvSpPr>
        <p:spPr>
          <a:xfrm>
            <a:off x="838200" y="953730"/>
            <a:ext cx="10515600" cy="5223233"/>
          </a:xfrm>
        </p:spPr>
        <p:txBody>
          <a:bodyPr>
            <a:normAutofit fontScale="72500"/>
          </a:bodyPr>
          <a:lstStyle/>
          <a:p>
            <a:pPr marL="0" indent="0" algn="just">
              <a:buNone/>
            </a:pPr>
            <a:r>
              <a:rPr lang="en-US" b="0" i="0" dirty="0">
                <a:solidFill>
                  <a:srgbClr val="333333"/>
                </a:solidFill>
                <a:effectLst/>
                <a:highlight>
                  <a:srgbClr val="FFFFFF"/>
                </a:highlight>
              </a:rPr>
              <a:t>B Tree is a specialized m-way tree that can be widely used for disk access.</a:t>
            </a:r>
            <a:endParaRPr lang="en-US" b="0" i="0" dirty="0">
              <a:solidFill>
                <a:srgbClr val="333333"/>
              </a:solidFill>
              <a:effectLst/>
              <a:highlight>
                <a:srgbClr val="FFFFFF"/>
              </a:highlight>
            </a:endParaRPr>
          </a:p>
          <a:p>
            <a:pPr algn="just"/>
            <a:r>
              <a:rPr lang="en-US" b="0" i="0" dirty="0">
                <a:solidFill>
                  <a:srgbClr val="333333"/>
                </a:solidFill>
                <a:effectLst/>
                <a:highlight>
                  <a:srgbClr val="FFFFFF"/>
                </a:highlight>
              </a:rPr>
              <a:t>B-Tree of order m can have at most m-1 keys and m children. One of the </a:t>
            </a:r>
            <a:endParaRPr lang="en-US" b="0" i="0" dirty="0">
              <a:solidFill>
                <a:srgbClr val="333333"/>
              </a:solidFill>
              <a:effectLst/>
              <a:highlight>
                <a:srgbClr val="FFFFFF"/>
              </a:highlight>
            </a:endParaRPr>
          </a:p>
          <a:p>
            <a:pPr algn="just"/>
            <a:r>
              <a:rPr lang="en-US" b="0" i="0" dirty="0">
                <a:solidFill>
                  <a:srgbClr val="333333"/>
                </a:solidFill>
                <a:effectLst/>
                <a:highlight>
                  <a:srgbClr val="FFFFFF"/>
                </a:highlight>
              </a:rPr>
              <a:t>main reason of using B tree is its capability to store large number of keys in </a:t>
            </a:r>
            <a:endParaRPr lang="en-US" b="0" i="0" dirty="0">
              <a:solidFill>
                <a:srgbClr val="333333"/>
              </a:solidFill>
              <a:effectLst/>
              <a:highlight>
                <a:srgbClr val="FFFFFF"/>
              </a:highlight>
            </a:endParaRPr>
          </a:p>
          <a:p>
            <a:pPr algn="just"/>
            <a:r>
              <a:rPr lang="en-US" b="0" i="0" dirty="0">
                <a:solidFill>
                  <a:srgbClr val="333333"/>
                </a:solidFill>
                <a:effectLst/>
                <a:highlight>
                  <a:srgbClr val="FFFFFF"/>
                </a:highlight>
              </a:rPr>
              <a:t>a single node and large key values by keeping the height of the tree </a:t>
            </a:r>
            <a:endParaRPr lang="en-US" b="0" i="0" dirty="0">
              <a:solidFill>
                <a:srgbClr val="333333"/>
              </a:solidFill>
              <a:effectLst/>
              <a:highlight>
                <a:srgbClr val="FFFFFF"/>
              </a:highlight>
            </a:endParaRPr>
          </a:p>
          <a:p>
            <a:pPr algn="just"/>
            <a:r>
              <a:rPr lang="en-US" b="0" i="0" dirty="0">
                <a:solidFill>
                  <a:srgbClr val="333333"/>
                </a:solidFill>
                <a:effectLst/>
                <a:highlight>
                  <a:srgbClr val="FFFFFF"/>
                </a:highlight>
              </a:rPr>
              <a:t>relatively small.</a:t>
            </a:r>
            <a:endParaRPr lang="en-US" b="0" i="0" dirty="0">
              <a:solidFill>
                <a:srgbClr val="333333"/>
              </a:solidFill>
              <a:effectLst/>
              <a:highlight>
                <a:srgbClr val="FFFFFF"/>
              </a:highlight>
            </a:endParaRPr>
          </a:p>
          <a:p>
            <a:pPr marL="0" indent="0" algn="just">
              <a:buNone/>
            </a:pPr>
            <a:r>
              <a:rPr lang="en-US" b="0" i="0" dirty="0">
                <a:solidFill>
                  <a:srgbClr val="333333"/>
                </a:solidFill>
                <a:effectLst/>
                <a:highlight>
                  <a:srgbClr val="FFFFFF"/>
                </a:highlight>
              </a:rPr>
              <a:t>B tree of order m contains all the properties of an M way tree. In addition, it contains the following properties.</a:t>
            </a:r>
            <a:endParaRPr lang="en-US" b="0" i="0" dirty="0">
              <a:solidFill>
                <a:srgbClr val="333333"/>
              </a:solidFill>
              <a:effectLst/>
              <a:highlight>
                <a:srgbClr val="FFFFFF"/>
              </a:highlight>
            </a:endParaRPr>
          </a:p>
          <a:p>
            <a:pPr algn="just">
              <a:buFont typeface="+mj-lt"/>
              <a:buAutoNum type="arabicPeriod"/>
            </a:pPr>
            <a:r>
              <a:rPr lang="en-US" b="0" i="0" dirty="0">
                <a:solidFill>
                  <a:srgbClr val="000000"/>
                </a:solidFill>
                <a:effectLst/>
                <a:highlight>
                  <a:srgbClr val="FFFFFF"/>
                </a:highlight>
              </a:rPr>
              <a:t>Every node in a B-Tree contains at most m children.</a:t>
            </a:r>
            <a:endParaRPr lang="en-US" b="0" i="0" dirty="0">
              <a:solidFill>
                <a:srgbClr val="000000"/>
              </a:solidFill>
              <a:effectLst/>
              <a:highlight>
                <a:srgbClr val="FFFFFF"/>
              </a:highlight>
            </a:endParaRPr>
          </a:p>
          <a:p>
            <a:pPr algn="just">
              <a:buFont typeface="+mj-lt"/>
              <a:buAutoNum type="arabicPeriod"/>
            </a:pPr>
            <a:r>
              <a:rPr lang="en-US" b="0" i="0" dirty="0">
                <a:solidFill>
                  <a:srgbClr val="000000"/>
                </a:solidFill>
                <a:effectLst/>
                <a:highlight>
                  <a:srgbClr val="FFFFFF"/>
                </a:highlight>
              </a:rPr>
              <a:t>Every node in a B-Tree except the root node and the leaf node contain at least m/2 children.</a:t>
            </a:r>
            <a:endParaRPr lang="en-US" b="0" i="0" dirty="0">
              <a:solidFill>
                <a:srgbClr val="000000"/>
              </a:solidFill>
              <a:effectLst/>
              <a:highlight>
                <a:srgbClr val="FFFFFF"/>
              </a:highlight>
            </a:endParaRPr>
          </a:p>
          <a:p>
            <a:pPr algn="just">
              <a:buFont typeface="+mj-lt"/>
              <a:buAutoNum type="arabicPeriod"/>
            </a:pPr>
            <a:r>
              <a:rPr lang="en-US" b="0" i="0" dirty="0">
                <a:solidFill>
                  <a:srgbClr val="000000"/>
                </a:solidFill>
                <a:effectLst/>
                <a:highlight>
                  <a:srgbClr val="FFFFFF"/>
                </a:highlight>
              </a:rPr>
              <a:t>The root nodes must have at least 2 nodes.</a:t>
            </a:r>
            <a:endParaRPr lang="en-US" b="0" i="0" dirty="0">
              <a:solidFill>
                <a:srgbClr val="000000"/>
              </a:solidFill>
              <a:effectLst/>
              <a:highlight>
                <a:srgbClr val="FFFFFF"/>
              </a:highlight>
            </a:endParaRPr>
          </a:p>
          <a:p>
            <a:pPr algn="just">
              <a:buFont typeface="+mj-lt"/>
              <a:buAutoNum type="arabicPeriod"/>
            </a:pPr>
            <a:r>
              <a:rPr lang="en-US" b="0" i="0" dirty="0">
                <a:solidFill>
                  <a:srgbClr val="000000"/>
                </a:solidFill>
                <a:effectLst/>
                <a:highlight>
                  <a:srgbClr val="FFFFFF"/>
                </a:highlight>
              </a:rPr>
              <a:t>All leaf nodes must be at the same level.</a:t>
            </a:r>
            <a:endParaRPr lang="en-US" b="0" i="0" dirty="0">
              <a:solidFill>
                <a:srgbClr val="000000"/>
              </a:solidFill>
              <a:effectLst/>
              <a:highlight>
                <a:srgbClr val="FFFFFF"/>
              </a:highlight>
            </a:endParaRPr>
          </a:p>
          <a:p>
            <a:pPr algn="just"/>
            <a:r>
              <a:rPr lang="en-US" b="0" i="0" dirty="0">
                <a:solidFill>
                  <a:srgbClr val="333333"/>
                </a:solidFill>
                <a:effectLst/>
                <a:highlight>
                  <a:srgbClr val="FFFFFF"/>
                </a:highlight>
              </a:rPr>
              <a:t>It is not necessary that, all the nodes contain the same number of children but, each node must have m/2 number of nodes.</a:t>
            </a:r>
            <a:endParaRPr lang="en-US" b="0" i="0" dirty="0">
              <a:solidFill>
                <a:srgbClr val="333333"/>
              </a:solidFill>
              <a:effectLst/>
              <a:highlight>
                <a:srgbClr val="FFFFFF"/>
              </a:highlight>
            </a:endParaRPr>
          </a:p>
          <a:p>
            <a:endParaRPr lang="en-IN"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52284"/>
            <a:ext cx="10515600" cy="5724679"/>
          </a:xfrm>
        </p:spPr>
        <p:txBody>
          <a:bodyPr/>
          <a:lstStyle/>
          <a:p>
            <a:r>
              <a:rPr lang="en-US" b="0" i="0" dirty="0">
                <a:solidFill>
                  <a:srgbClr val="333333"/>
                </a:solidFill>
                <a:effectLst/>
                <a:highlight>
                  <a:srgbClr val="FFFFFF"/>
                </a:highlight>
              </a:rPr>
              <a:t>B tree of order 4 is shown in the following image.</a:t>
            </a:r>
            <a:endParaRPr lang="en-US" b="0" i="0" dirty="0">
              <a:solidFill>
                <a:srgbClr val="333333"/>
              </a:solidFill>
              <a:effectLst/>
              <a:highlight>
                <a:srgbClr val="FFFFFF"/>
              </a:highlight>
            </a:endParaRPr>
          </a:p>
          <a:p>
            <a:endParaRPr lang="en-US" dirty="0">
              <a:solidFill>
                <a:srgbClr val="333333"/>
              </a:solidFill>
              <a:highlight>
                <a:srgbClr val="FFFFFF"/>
              </a:highlight>
            </a:endParaRPr>
          </a:p>
          <a:p>
            <a:endParaRPr lang="en-US" b="0" i="0" dirty="0">
              <a:solidFill>
                <a:srgbClr val="333333"/>
              </a:solidFill>
              <a:effectLst/>
              <a:highlight>
                <a:srgbClr val="FFFFFF"/>
              </a:highlight>
            </a:endParaRPr>
          </a:p>
          <a:p>
            <a:endParaRPr lang="en-IN" dirty="0"/>
          </a:p>
        </p:txBody>
      </p:sp>
      <p:pic>
        <p:nvPicPr>
          <p:cNvPr id="5" name="Picture 4"/>
          <p:cNvPicPr>
            <a:picLocks noChangeAspect="1"/>
          </p:cNvPicPr>
          <p:nvPr/>
        </p:nvPicPr>
        <p:blipFill>
          <a:blip r:embed="rId1"/>
          <a:stretch>
            <a:fillRect/>
          </a:stretch>
        </p:blipFill>
        <p:spPr>
          <a:xfrm>
            <a:off x="889861" y="1804761"/>
            <a:ext cx="10412278" cy="3248478"/>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44129"/>
            <a:ext cx="10515600" cy="5832834"/>
          </a:xfrm>
        </p:spPr>
        <p:txBody>
          <a:bodyPr/>
          <a:lstStyle/>
          <a:p>
            <a:pPr algn="l"/>
            <a:r>
              <a:rPr lang="en-US" b="1" i="0" dirty="0">
                <a:solidFill>
                  <a:srgbClr val="242424"/>
                </a:solidFill>
                <a:effectLst/>
                <a:highlight>
                  <a:srgbClr val="FFFFFF"/>
                </a:highlight>
                <a:latin typeface="sohne"/>
              </a:rPr>
              <a:t>B-Tree</a:t>
            </a:r>
            <a:endParaRPr lang="en-US" b="1" i="0" dirty="0">
              <a:solidFill>
                <a:srgbClr val="242424"/>
              </a:solidFill>
              <a:effectLst/>
              <a:highlight>
                <a:srgbClr val="FFFFFF"/>
              </a:highlight>
              <a:latin typeface="sohne"/>
            </a:endParaRPr>
          </a:p>
          <a:p>
            <a:pPr algn="l"/>
            <a:r>
              <a:rPr lang="en-US" b="0" i="0" dirty="0">
                <a:solidFill>
                  <a:srgbClr val="242424"/>
                </a:solidFill>
                <a:effectLst/>
                <a:highlight>
                  <a:srgbClr val="FFFFFF"/>
                </a:highlight>
                <a:latin typeface="source-serif-pro"/>
              </a:rPr>
              <a:t>B-Tree is a self-balancing tree data structure that </a:t>
            </a:r>
            <a:endParaRPr lang="en-US" b="0" i="0" dirty="0">
              <a:solidFill>
                <a:srgbClr val="242424"/>
              </a:solidFill>
              <a:effectLst/>
              <a:highlight>
                <a:srgbClr val="FFFFFF"/>
              </a:highlight>
              <a:latin typeface="source-serif-pro"/>
            </a:endParaRPr>
          </a:p>
          <a:p>
            <a:pPr algn="l"/>
            <a:r>
              <a:rPr lang="en-US" b="0" i="0" dirty="0">
                <a:solidFill>
                  <a:srgbClr val="242424"/>
                </a:solidFill>
                <a:effectLst/>
                <a:highlight>
                  <a:srgbClr val="FFFFFF"/>
                </a:highlight>
                <a:latin typeface="source-serif-pro"/>
              </a:rPr>
              <a:t>maintains sorted data and allows searches, but it </a:t>
            </a:r>
            <a:endParaRPr lang="en-US" b="0" i="0" dirty="0">
              <a:solidFill>
                <a:srgbClr val="242424"/>
              </a:solidFill>
              <a:effectLst/>
              <a:highlight>
                <a:srgbClr val="FFFFFF"/>
              </a:highlight>
              <a:latin typeface="source-serif-pro"/>
            </a:endParaRPr>
          </a:p>
          <a:p>
            <a:pPr algn="l"/>
            <a:r>
              <a:rPr lang="en-US" b="0" i="0" dirty="0">
                <a:solidFill>
                  <a:srgbClr val="242424"/>
                </a:solidFill>
                <a:effectLst/>
                <a:highlight>
                  <a:srgbClr val="FFFFFF"/>
                </a:highlight>
                <a:latin typeface="source-serif-pro"/>
              </a:rPr>
              <a:t>generalizes the binary search tree, allowing for nodes </a:t>
            </a:r>
            <a:endParaRPr lang="en-US" b="0" i="0" dirty="0">
              <a:solidFill>
                <a:srgbClr val="242424"/>
              </a:solidFill>
              <a:effectLst/>
              <a:highlight>
                <a:srgbClr val="FFFFFF"/>
              </a:highlight>
              <a:latin typeface="source-serif-pro"/>
            </a:endParaRPr>
          </a:p>
          <a:p>
            <a:pPr algn="l"/>
            <a:r>
              <a:rPr lang="en-US" b="0" i="0" dirty="0">
                <a:solidFill>
                  <a:srgbClr val="242424"/>
                </a:solidFill>
                <a:effectLst/>
                <a:highlight>
                  <a:srgbClr val="FFFFFF"/>
                </a:highlight>
                <a:latin typeface="source-serif-pro"/>
              </a:rPr>
              <a:t>with more than two children.</a:t>
            </a:r>
            <a:endParaRPr lang="en-US" b="0" i="0" dirty="0">
              <a:solidFill>
                <a:srgbClr val="242424"/>
              </a:solidFill>
              <a:effectLst/>
              <a:highlight>
                <a:srgbClr val="FFFFFF"/>
              </a:highlight>
              <a:latin typeface="source-serif-pro"/>
            </a:endParaRPr>
          </a:p>
          <a:p>
            <a:pPr algn="l"/>
            <a:r>
              <a:rPr lang="en-US" b="0" i="0" dirty="0">
                <a:solidFill>
                  <a:srgbClr val="242424"/>
                </a:solidFill>
                <a:effectLst/>
                <a:highlight>
                  <a:srgbClr val="FFFFFF"/>
                </a:highlight>
                <a:latin typeface="source-serif-pro"/>
              </a:rPr>
              <a:t>More formally, each node has between </a:t>
            </a:r>
            <a:r>
              <a:rPr lang="en-US" b="0" i="1" dirty="0">
                <a:solidFill>
                  <a:srgbClr val="242424"/>
                </a:solidFill>
                <a:effectLst/>
                <a:highlight>
                  <a:srgbClr val="FFFFFF"/>
                </a:highlight>
                <a:latin typeface="source-serif-pro"/>
              </a:rPr>
              <a:t>k </a:t>
            </a:r>
            <a:r>
              <a:rPr lang="en-US" b="0" i="0" dirty="0">
                <a:solidFill>
                  <a:srgbClr val="242424"/>
                </a:solidFill>
                <a:effectLst/>
                <a:highlight>
                  <a:srgbClr val="FFFFFF"/>
                </a:highlight>
                <a:latin typeface="source-serif-pro"/>
              </a:rPr>
              <a:t>to </a:t>
            </a:r>
            <a:r>
              <a:rPr lang="en-US" b="0" i="1" dirty="0">
                <a:solidFill>
                  <a:srgbClr val="242424"/>
                </a:solidFill>
                <a:effectLst/>
                <a:highlight>
                  <a:srgbClr val="FFFFFF"/>
                </a:highlight>
                <a:latin typeface="source-serif-pro"/>
              </a:rPr>
              <a:t>2k </a:t>
            </a:r>
            <a:r>
              <a:rPr lang="en-US" b="0" i="0" dirty="0">
                <a:solidFill>
                  <a:srgbClr val="242424"/>
                </a:solidFill>
                <a:effectLst/>
                <a:highlight>
                  <a:srgbClr val="FFFFFF"/>
                </a:highlight>
                <a:latin typeface="source-serif-pro"/>
              </a:rPr>
              <a:t>key-</a:t>
            </a:r>
            <a:endParaRPr lang="en-US" b="0" i="0" dirty="0">
              <a:solidFill>
                <a:srgbClr val="242424"/>
              </a:solidFill>
              <a:effectLst/>
              <a:highlight>
                <a:srgbClr val="FFFFFF"/>
              </a:highlight>
              <a:latin typeface="source-serif-pro"/>
            </a:endParaRPr>
          </a:p>
          <a:p>
            <a:pPr algn="l"/>
            <a:r>
              <a:rPr lang="en-US" b="0" i="0" dirty="0">
                <a:solidFill>
                  <a:srgbClr val="242424"/>
                </a:solidFill>
                <a:effectLst/>
                <a:highlight>
                  <a:srgbClr val="FFFFFF"/>
                </a:highlight>
                <a:latin typeface="source-serif-pro"/>
              </a:rPr>
              <a:t>value pairs and </a:t>
            </a:r>
            <a:r>
              <a:rPr lang="en-US" b="0" i="1" dirty="0">
                <a:solidFill>
                  <a:srgbClr val="242424"/>
                </a:solidFill>
                <a:effectLst/>
                <a:highlight>
                  <a:srgbClr val="FFFFFF"/>
                </a:highlight>
                <a:latin typeface="source-serif-pro"/>
              </a:rPr>
              <a:t>k+1</a:t>
            </a:r>
            <a:r>
              <a:rPr lang="en-US" b="0" i="0" dirty="0">
                <a:solidFill>
                  <a:srgbClr val="242424"/>
                </a:solidFill>
                <a:effectLst/>
                <a:highlight>
                  <a:srgbClr val="FFFFFF"/>
                </a:highlight>
                <a:latin typeface="source-serif-pro"/>
              </a:rPr>
              <a:t> to 2</a:t>
            </a:r>
            <a:r>
              <a:rPr lang="en-US" b="0" i="1" dirty="0">
                <a:solidFill>
                  <a:srgbClr val="242424"/>
                </a:solidFill>
                <a:effectLst/>
                <a:highlight>
                  <a:srgbClr val="FFFFFF"/>
                </a:highlight>
                <a:latin typeface="source-serif-pro"/>
              </a:rPr>
              <a:t>k+1</a:t>
            </a:r>
            <a:r>
              <a:rPr lang="en-US" b="0" i="0" dirty="0">
                <a:solidFill>
                  <a:srgbClr val="242424"/>
                </a:solidFill>
                <a:effectLst/>
                <a:highlight>
                  <a:srgbClr val="FFFFFF"/>
                </a:highlight>
                <a:latin typeface="source-serif-pro"/>
              </a:rPr>
              <a:t> child pointers except the </a:t>
            </a:r>
            <a:endParaRPr lang="en-US" b="0" i="0" dirty="0">
              <a:solidFill>
                <a:srgbClr val="242424"/>
              </a:solidFill>
              <a:effectLst/>
              <a:highlight>
                <a:srgbClr val="FFFFFF"/>
              </a:highlight>
              <a:latin typeface="source-serif-pro"/>
            </a:endParaRPr>
          </a:p>
          <a:p>
            <a:pPr algn="l"/>
            <a:r>
              <a:rPr lang="en-US" b="0" i="0" dirty="0">
                <a:solidFill>
                  <a:srgbClr val="242424"/>
                </a:solidFill>
                <a:effectLst/>
                <a:highlight>
                  <a:srgbClr val="FFFFFF"/>
                </a:highlight>
                <a:latin typeface="source-serif-pro"/>
              </a:rPr>
              <a:t>root node with as few as </a:t>
            </a:r>
            <a:r>
              <a:rPr lang="en-US" b="0" i="1" dirty="0">
                <a:solidFill>
                  <a:srgbClr val="242424"/>
                </a:solidFill>
                <a:effectLst/>
                <a:highlight>
                  <a:srgbClr val="FFFFFF"/>
                </a:highlight>
                <a:latin typeface="source-serif-pro"/>
              </a:rPr>
              <a:t>2</a:t>
            </a:r>
            <a:r>
              <a:rPr lang="en-US" b="0" i="0" dirty="0">
                <a:solidFill>
                  <a:srgbClr val="242424"/>
                </a:solidFill>
                <a:effectLst/>
                <a:highlight>
                  <a:srgbClr val="FFFFFF"/>
                </a:highlight>
                <a:latin typeface="source-serif-pro"/>
              </a:rPr>
              <a:t> children even when </a:t>
            </a:r>
            <a:r>
              <a:rPr lang="en-US" b="0" i="1" dirty="0">
                <a:solidFill>
                  <a:srgbClr val="242424"/>
                </a:solidFill>
                <a:effectLst/>
                <a:highlight>
                  <a:srgbClr val="FFFFFF"/>
                </a:highlight>
                <a:latin typeface="source-serif-pro"/>
              </a:rPr>
              <a:t>k</a:t>
            </a:r>
            <a:r>
              <a:rPr lang="en-US" b="0" i="0" dirty="0">
                <a:solidFill>
                  <a:srgbClr val="242424"/>
                </a:solidFill>
                <a:effectLst/>
                <a:highlight>
                  <a:srgbClr val="FFFFFF"/>
                </a:highlight>
                <a:latin typeface="source-serif-pro"/>
              </a:rPr>
              <a:t> is a </a:t>
            </a:r>
            <a:endParaRPr lang="en-US" b="0" i="0" dirty="0">
              <a:solidFill>
                <a:srgbClr val="242424"/>
              </a:solidFill>
              <a:effectLst/>
              <a:highlight>
                <a:srgbClr val="FFFFFF"/>
              </a:highlight>
              <a:latin typeface="source-serif-pro"/>
            </a:endParaRPr>
          </a:p>
          <a:p>
            <a:pPr algn="l"/>
            <a:r>
              <a:rPr lang="en-US" b="0" i="0" dirty="0">
                <a:solidFill>
                  <a:srgbClr val="242424"/>
                </a:solidFill>
                <a:effectLst/>
                <a:highlight>
                  <a:srgbClr val="FFFFFF"/>
                </a:highlight>
                <a:latin typeface="source-serif-pro"/>
              </a:rPr>
              <a:t>high number.</a:t>
            </a:r>
            <a:endParaRPr lang="en-US" b="0" i="0" dirty="0">
              <a:solidFill>
                <a:srgbClr val="242424"/>
              </a:solidFill>
              <a:effectLst/>
              <a:highlight>
                <a:srgbClr val="FFFFFF"/>
              </a:highlight>
              <a:latin typeface="source-serif-pro"/>
            </a:endParaRPr>
          </a:p>
          <a:p>
            <a:pPr marL="0" indent="0">
              <a:buNone/>
            </a:pPr>
            <a:br>
              <a:rPr lang="en-US" dirty="0">
                <a:effectLst/>
              </a:rPr>
            </a:br>
            <a:endParaRPr lang="en-IN" dirty="0"/>
          </a:p>
        </p:txBody>
      </p:sp>
      <p:pic>
        <p:nvPicPr>
          <p:cNvPr id="5" name="Picture 4"/>
          <p:cNvPicPr>
            <a:picLocks noChangeAspect="1"/>
          </p:cNvPicPr>
          <p:nvPr/>
        </p:nvPicPr>
        <p:blipFill>
          <a:blip r:embed="rId1"/>
          <a:stretch>
            <a:fillRect/>
          </a:stretch>
        </p:blipFill>
        <p:spPr>
          <a:xfrm>
            <a:off x="3890215" y="4486751"/>
            <a:ext cx="7826477" cy="2225233"/>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32619"/>
            <a:ext cx="10515600" cy="5744344"/>
          </a:xfrm>
        </p:spPr>
        <p:txBody>
          <a:bodyPr/>
          <a:lstStyle/>
          <a:p>
            <a:pPr marL="0" indent="0" algn="l">
              <a:buNone/>
            </a:pPr>
            <a:r>
              <a:rPr lang="en-US" b="1" i="0" dirty="0">
                <a:solidFill>
                  <a:srgbClr val="242424"/>
                </a:solidFill>
                <a:effectLst/>
                <a:highlight>
                  <a:srgbClr val="FFFFFF"/>
                </a:highlight>
                <a:latin typeface="sohne"/>
              </a:rPr>
              <a:t>Searching, Inserting, and Deleting</a:t>
            </a:r>
            <a:endParaRPr lang="en-US" b="1" i="0" dirty="0">
              <a:solidFill>
                <a:srgbClr val="242424"/>
              </a:solidFill>
              <a:effectLst/>
              <a:highlight>
                <a:srgbClr val="FFFFFF"/>
              </a:highlight>
              <a:latin typeface="sohne"/>
            </a:endParaRPr>
          </a:p>
          <a:p>
            <a:pPr marL="0" indent="0" algn="l">
              <a:buNone/>
            </a:pPr>
            <a:r>
              <a:rPr lang="en-US" b="1" i="0" dirty="0">
                <a:solidFill>
                  <a:srgbClr val="242424"/>
                </a:solidFill>
                <a:effectLst/>
                <a:highlight>
                  <a:srgbClr val="FFFFFF"/>
                </a:highlight>
                <a:latin typeface="sohne"/>
              </a:rPr>
              <a:t>Searching</a:t>
            </a:r>
            <a:endParaRPr lang="en-US" b="1" i="0" dirty="0">
              <a:solidFill>
                <a:srgbClr val="242424"/>
              </a:solidFill>
              <a:effectLst/>
              <a:highlight>
                <a:srgbClr val="FFFFFF"/>
              </a:highlight>
              <a:latin typeface="sohne"/>
            </a:endParaRPr>
          </a:p>
          <a:p>
            <a:pPr algn="l"/>
            <a:r>
              <a:rPr lang="en-US" b="0" i="0" dirty="0">
                <a:solidFill>
                  <a:srgbClr val="242424"/>
                </a:solidFill>
                <a:effectLst/>
                <a:highlight>
                  <a:srgbClr val="FFFFFF"/>
                </a:highlight>
                <a:latin typeface="source-serif-pro"/>
              </a:rPr>
              <a:t>Searching a B-Tree is done using a binary search. The </a:t>
            </a:r>
            <a:endParaRPr lang="en-US" b="0" i="0" dirty="0">
              <a:solidFill>
                <a:srgbClr val="242424"/>
              </a:solidFill>
              <a:effectLst/>
              <a:highlight>
                <a:srgbClr val="FFFFFF"/>
              </a:highlight>
              <a:latin typeface="source-serif-pro"/>
            </a:endParaRPr>
          </a:p>
          <a:p>
            <a:pPr algn="l"/>
            <a:r>
              <a:rPr lang="en-US" b="0" i="0" dirty="0">
                <a:solidFill>
                  <a:srgbClr val="242424"/>
                </a:solidFill>
                <a:effectLst/>
                <a:highlight>
                  <a:srgbClr val="FFFFFF"/>
                </a:highlight>
                <a:latin typeface="source-serif-pro"/>
              </a:rPr>
              <a:t>algorithm starts with the root node and traverses all </a:t>
            </a:r>
            <a:endParaRPr lang="en-US" b="0" i="0" dirty="0">
              <a:solidFill>
                <a:srgbClr val="242424"/>
              </a:solidFill>
              <a:effectLst/>
              <a:highlight>
                <a:srgbClr val="FFFFFF"/>
              </a:highlight>
              <a:latin typeface="source-serif-pro"/>
            </a:endParaRPr>
          </a:p>
          <a:p>
            <a:pPr algn="l"/>
            <a:r>
              <a:rPr lang="en-US" b="0" i="0" dirty="0">
                <a:solidFill>
                  <a:srgbClr val="242424"/>
                </a:solidFill>
                <a:effectLst/>
                <a:highlight>
                  <a:srgbClr val="FFFFFF"/>
                </a:highlight>
                <a:latin typeface="source-serif-pro"/>
              </a:rPr>
              <a:t>the keys until it finds the first key greater than the </a:t>
            </a:r>
            <a:endParaRPr lang="en-US" b="0" i="0" dirty="0">
              <a:solidFill>
                <a:srgbClr val="242424"/>
              </a:solidFill>
              <a:effectLst/>
              <a:highlight>
                <a:srgbClr val="FFFFFF"/>
              </a:highlight>
              <a:latin typeface="source-serif-pro"/>
            </a:endParaRPr>
          </a:p>
          <a:p>
            <a:pPr algn="l"/>
            <a:r>
              <a:rPr lang="en-US" b="0" i="0" dirty="0">
                <a:solidFill>
                  <a:srgbClr val="242424"/>
                </a:solidFill>
                <a:effectLst/>
                <a:highlight>
                  <a:srgbClr val="FFFFFF"/>
                </a:highlight>
                <a:latin typeface="source-serif-pro"/>
              </a:rPr>
              <a:t>searched value. Then, we descend toward the relevant </a:t>
            </a:r>
            <a:endParaRPr lang="en-US" b="0" i="0" dirty="0">
              <a:solidFill>
                <a:srgbClr val="242424"/>
              </a:solidFill>
              <a:effectLst/>
              <a:highlight>
                <a:srgbClr val="FFFFFF"/>
              </a:highlight>
              <a:latin typeface="source-serif-pro"/>
            </a:endParaRPr>
          </a:p>
          <a:p>
            <a:pPr algn="l"/>
            <a:r>
              <a:rPr lang="en-US" b="0" i="0" dirty="0">
                <a:solidFill>
                  <a:srgbClr val="242424"/>
                </a:solidFill>
                <a:effectLst/>
                <a:highlight>
                  <a:srgbClr val="FFFFFF"/>
                </a:highlight>
                <a:latin typeface="source-serif-pro"/>
              </a:rPr>
              <a:t>subtree using the corresponding child pointer and </a:t>
            </a:r>
            <a:endParaRPr lang="en-US" b="0" i="0" dirty="0">
              <a:solidFill>
                <a:srgbClr val="242424"/>
              </a:solidFill>
              <a:effectLst/>
              <a:highlight>
                <a:srgbClr val="FFFFFF"/>
              </a:highlight>
              <a:latin typeface="source-serif-pro"/>
            </a:endParaRPr>
          </a:p>
          <a:p>
            <a:pPr algn="l"/>
            <a:r>
              <a:rPr lang="en-US" b="0" i="0" dirty="0">
                <a:solidFill>
                  <a:srgbClr val="242424"/>
                </a:solidFill>
                <a:effectLst/>
                <a:highlight>
                  <a:srgbClr val="FFFFFF"/>
                </a:highlight>
                <a:latin typeface="source-serif-pro"/>
              </a:rPr>
              <a:t>repeat the process until the value is found.</a:t>
            </a:r>
            <a:endParaRPr lang="en-US" b="0" i="0" dirty="0">
              <a:solidFill>
                <a:srgbClr val="242424"/>
              </a:solidFill>
              <a:effectLst/>
              <a:highlight>
                <a:srgbClr val="FFFFFF"/>
              </a:highlight>
              <a:latin typeface="source-serif-pro"/>
            </a:endParaRPr>
          </a:p>
          <a:p>
            <a:endParaRPr lang="en-IN" dirty="0"/>
          </a:p>
        </p:txBody>
      </p:sp>
      <p:pic>
        <p:nvPicPr>
          <p:cNvPr id="5" name="Picture 4"/>
          <p:cNvPicPr>
            <a:picLocks noChangeAspect="1"/>
          </p:cNvPicPr>
          <p:nvPr/>
        </p:nvPicPr>
        <p:blipFill>
          <a:blip r:embed="rId1"/>
          <a:stretch>
            <a:fillRect/>
          </a:stretch>
        </p:blipFill>
        <p:spPr>
          <a:xfrm>
            <a:off x="5372556" y="4417780"/>
            <a:ext cx="6957663" cy="2690093"/>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44129"/>
            <a:ext cx="10515600" cy="5832834"/>
          </a:xfrm>
        </p:spPr>
        <p:txBody>
          <a:bodyPr>
            <a:normAutofit fontScale="60000"/>
          </a:bodyPr>
          <a:lstStyle/>
          <a:p>
            <a:r>
              <a:rPr lang="en-US" b="0" i="0" dirty="0">
                <a:solidFill>
                  <a:srgbClr val="242424"/>
                </a:solidFill>
                <a:effectLst/>
                <a:highlight>
                  <a:srgbClr val="FFFFFF"/>
                </a:highlight>
                <a:latin typeface="source-serif-pro"/>
              </a:rPr>
              <a:t>Range scans are also possible by finding the starting </a:t>
            </a:r>
            <a:endParaRPr lang="en-US" b="0" i="0" dirty="0">
              <a:solidFill>
                <a:srgbClr val="242424"/>
              </a:solidFill>
              <a:effectLst/>
              <a:highlight>
                <a:srgbClr val="FFFFFF"/>
              </a:highlight>
              <a:latin typeface="source-serif-pro"/>
            </a:endParaRPr>
          </a:p>
          <a:p>
            <a:endParaRPr lang="en-US" b="0" i="0" dirty="0">
              <a:solidFill>
                <a:srgbClr val="242424"/>
              </a:solidFill>
              <a:effectLst/>
              <a:highlight>
                <a:srgbClr val="FFFFFF"/>
              </a:highlight>
              <a:latin typeface="source-serif-pro"/>
            </a:endParaRPr>
          </a:p>
          <a:p>
            <a:r>
              <a:rPr lang="en-US" b="0" i="0" dirty="0">
                <a:solidFill>
                  <a:srgbClr val="242424"/>
                </a:solidFill>
                <a:effectLst/>
                <a:highlight>
                  <a:srgbClr val="FFFFFF"/>
                </a:highlight>
                <a:latin typeface="source-serif-pro"/>
              </a:rPr>
              <a:t>key of the scan and following sibling pointers until the last </a:t>
            </a:r>
            <a:endParaRPr lang="en-US" b="0" i="0" dirty="0">
              <a:solidFill>
                <a:srgbClr val="242424"/>
              </a:solidFill>
              <a:effectLst/>
              <a:highlight>
                <a:srgbClr val="FFFFFF"/>
              </a:highlight>
              <a:latin typeface="source-serif-pro"/>
            </a:endParaRPr>
          </a:p>
          <a:p>
            <a:endParaRPr lang="en-US" b="0" i="0" dirty="0">
              <a:solidFill>
                <a:srgbClr val="242424"/>
              </a:solidFill>
              <a:effectLst/>
              <a:highlight>
                <a:srgbClr val="FFFFFF"/>
              </a:highlight>
              <a:latin typeface="source-serif-pro"/>
            </a:endParaRPr>
          </a:p>
          <a:p>
            <a:r>
              <a:rPr lang="en-US" b="0" i="0" dirty="0">
                <a:solidFill>
                  <a:srgbClr val="242424"/>
                </a:solidFill>
                <a:effectLst/>
                <a:highlight>
                  <a:srgbClr val="FFFFFF"/>
                </a:highlight>
                <a:latin typeface="source-serif-pro"/>
              </a:rPr>
              <a:t>node is found. This is not optimal as values are spread across </a:t>
            </a:r>
            <a:endParaRPr lang="en-US" b="0" i="0" dirty="0">
              <a:solidFill>
                <a:srgbClr val="242424"/>
              </a:solidFill>
              <a:effectLst/>
              <a:highlight>
                <a:srgbClr val="FFFFFF"/>
              </a:highlight>
              <a:latin typeface="source-serif-pro"/>
            </a:endParaRPr>
          </a:p>
          <a:p>
            <a:r>
              <a:rPr lang="en-US" b="0" i="0" dirty="0">
                <a:solidFill>
                  <a:srgbClr val="242424"/>
                </a:solidFill>
                <a:effectLst/>
                <a:highlight>
                  <a:srgbClr val="FFFFFF"/>
                </a:highlight>
                <a:latin typeface="source-serif-pro"/>
              </a:rPr>
              <a:t>many nodes. A better approach is using a B+ tree, a modification of B-Tree.</a:t>
            </a:r>
            <a:endParaRPr lang="en-US" b="0" i="0" dirty="0">
              <a:solidFill>
                <a:srgbClr val="242424"/>
              </a:solidFill>
              <a:effectLst/>
              <a:highlight>
                <a:srgbClr val="FFFFFF"/>
              </a:highlight>
              <a:latin typeface="source-serif-pro"/>
            </a:endParaRPr>
          </a:p>
          <a:p>
            <a:pPr marL="0" indent="0" algn="l">
              <a:buNone/>
            </a:pPr>
            <a:r>
              <a:rPr lang="en-US" b="1" i="0" dirty="0">
                <a:solidFill>
                  <a:srgbClr val="242424"/>
                </a:solidFill>
                <a:effectLst/>
                <a:highlight>
                  <a:srgbClr val="FFFFFF"/>
                </a:highlight>
                <a:latin typeface="sohne"/>
              </a:rPr>
              <a:t>Insertion</a:t>
            </a:r>
            <a:endParaRPr lang="en-US" b="1" i="0" dirty="0">
              <a:solidFill>
                <a:srgbClr val="242424"/>
              </a:solidFill>
              <a:effectLst/>
              <a:highlight>
                <a:srgbClr val="FFFFFF"/>
              </a:highlight>
              <a:latin typeface="sohne"/>
            </a:endParaRPr>
          </a:p>
          <a:p>
            <a:pPr algn="l"/>
            <a:r>
              <a:rPr lang="en-US" b="0" i="0" dirty="0">
                <a:solidFill>
                  <a:srgbClr val="242424"/>
                </a:solidFill>
                <a:effectLst/>
                <a:highlight>
                  <a:srgbClr val="FFFFFF"/>
                </a:highlight>
                <a:latin typeface="source-serif-pro"/>
              </a:rPr>
              <a:t>Insertion is done by performing a search and inserting the value at the </a:t>
            </a:r>
            <a:endParaRPr lang="en-US" b="0" i="0" dirty="0">
              <a:solidFill>
                <a:srgbClr val="242424"/>
              </a:solidFill>
              <a:effectLst/>
              <a:highlight>
                <a:srgbClr val="FFFFFF"/>
              </a:highlight>
              <a:latin typeface="source-serif-pro"/>
            </a:endParaRPr>
          </a:p>
          <a:p>
            <a:pPr algn="l"/>
            <a:r>
              <a:rPr lang="en-US" b="0" i="0" dirty="0">
                <a:solidFill>
                  <a:srgbClr val="242424"/>
                </a:solidFill>
                <a:effectLst/>
                <a:highlight>
                  <a:srgbClr val="FFFFFF"/>
                </a:highlight>
                <a:latin typeface="source-serif-pro"/>
              </a:rPr>
              <a:t>correct index. Insertion might cause the tree to get out of balance if a node </a:t>
            </a:r>
            <a:endParaRPr lang="en-US" b="0" i="0" dirty="0">
              <a:solidFill>
                <a:srgbClr val="242424"/>
              </a:solidFill>
              <a:effectLst/>
              <a:highlight>
                <a:srgbClr val="FFFFFF"/>
              </a:highlight>
              <a:latin typeface="source-serif-pro"/>
            </a:endParaRPr>
          </a:p>
          <a:p>
            <a:pPr algn="l"/>
            <a:r>
              <a:rPr lang="en-US" b="0" i="0" dirty="0">
                <a:solidFill>
                  <a:srgbClr val="242424"/>
                </a:solidFill>
                <a:effectLst/>
                <a:highlight>
                  <a:srgbClr val="FFFFFF"/>
                </a:highlight>
                <a:latin typeface="source-serif-pro"/>
              </a:rPr>
              <a:t>has too many values (</a:t>
            </a:r>
            <a:r>
              <a:rPr lang="en-US" b="0" i="1" dirty="0">
                <a:solidFill>
                  <a:srgbClr val="242424"/>
                </a:solidFill>
                <a:effectLst/>
                <a:highlight>
                  <a:srgbClr val="FFFFFF"/>
                </a:highlight>
                <a:latin typeface="source-serif-pro"/>
              </a:rPr>
              <a:t>n</a:t>
            </a:r>
            <a:r>
              <a:rPr lang="en-US" b="0" i="0" dirty="0">
                <a:solidFill>
                  <a:srgbClr val="242424"/>
                </a:solidFill>
                <a:effectLst/>
                <a:highlight>
                  <a:srgbClr val="FFFFFF"/>
                </a:highlight>
                <a:latin typeface="source-serif-pro"/>
              </a:rPr>
              <a:t>&gt;</a:t>
            </a:r>
            <a:r>
              <a:rPr lang="en-US" b="0" i="1" dirty="0">
                <a:solidFill>
                  <a:srgbClr val="242424"/>
                </a:solidFill>
                <a:effectLst/>
                <a:highlight>
                  <a:srgbClr val="FFFFFF"/>
                </a:highlight>
                <a:latin typeface="source-serif-pro"/>
              </a:rPr>
              <a:t>2k</a:t>
            </a:r>
            <a:r>
              <a:rPr lang="en-US" b="0" i="0" dirty="0">
                <a:solidFill>
                  <a:srgbClr val="242424"/>
                </a:solidFill>
                <a:effectLst/>
                <a:highlight>
                  <a:srgbClr val="FFFFFF"/>
                </a:highlight>
                <a:latin typeface="source-serif-pro"/>
              </a:rPr>
              <a:t>).</a:t>
            </a:r>
            <a:endParaRPr lang="en-US" dirty="0">
              <a:solidFill>
                <a:srgbClr val="242424"/>
              </a:solidFill>
              <a:highlight>
                <a:srgbClr val="FFFFFF"/>
              </a:highlight>
              <a:latin typeface="source-serif-pro"/>
            </a:endParaRPr>
          </a:p>
          <a:p>
            <a:r>
              <a:rPr lang="en-US" b="0" i="0" dirty="0">
                <a:solidFill>
                  <a:srgbClr val="242424"/>
                </a:solidFill>
                <a:effectLst/>
                <a:highlight>
                  <a:srgbClr val="FFFFFF"/>
                </a:highlight>
                <a:latin typeface="source-serif-pro"/>
              </a:rPr>
              <a:t>In that case, the tree will be balanced using node split. Splitting is done by </a:t>
            </a:r>
            <a:endParaRPr lang="en-US" b="0" i="0" dirty="0">
              <a:solidFill>
                <a:srgbClr val="242424"/>
              </a:solidFill>
              <a:effectLst/>
              <a:highlight>
                <a:srgbClr val="FFFFFF"/>
              </a:highlight>
              <a:latin typeface="source-serif-pro"/>
            </a:endParaRPr>
          </a:p>
          <a:p>
            <a:r>
              <a:rPr lang="en-US" b="0" i="0" dirty="0">
                <a:solidFill>
                  <a:srgbClr val="242424"/>
                </a:solidFill>
                <a:effectLst/>
                <a:highlight>
                  <a:srgbClr val="FFFFFF"/>
                </a:highlight>
                <a:latin typeface="source-serif-pro"/>
              </a:rPr>
              <a:t>allocating a new node, transferring half of the key-value pairs there, and </a:t>
            </a:r>
            <a:endParaRPr lang="en-US" b="0" i="0" dirty="0">
              <a:solidFill>
                <a:srgbClr val="242424"/>
              </a:solidFill>
              <a:effectLst/>
              <a:highlight>
                <a:srgbClr val="FFFFFF"/>
              </a:highlight>
              <a:latin typeface="source-serif-pro"/>
            </a:endParaRPr>
          </a:p>
          <a:p>
            <a:r>
              <a:rPr lang="en-US" b="0" i="0" dirty="0">
                <a:solidFill>
                  <a:srgbClr val="242424"/>
                </a:solidFill>
                <a:effectLst/>
                <a:highlight>
                  <a:srgbClr val="FFFFFF"/>
                </a:highlight>
                <a:latin typeface="source-serif-pro"/>
              </a:rPr>
              <a:t>adding its first key and a pointer to that node to the parent node. If it’s a </a:t>
            </a:r>
            <a:endParaRPr lang="en-US" b="0" i="0" dirty="0">
              <a:solidFill>
                <a:srgbClr val="242424"/>
              </a:solidFill>
              <a:effectLst/>
              <a:highlight>
                <a:srgbClr val="FFFFFF"/>
              </a:highlight>
              <a:latin typeface="source-serif-pro"/>
            </a:endParaRPr>
          </a:p>
          <a:p>
            <a:r>
              <a:rPr lang="en-US" b="0" i="0" dirty="0">
                <a:solidFill>
                  <a:srgbClr val="242424"/>
                </a:solidFill>
                <a:effectLst/>
                <a:highlight>
                  <a:srgbClr val="FFFFFF"/>
                </a:highlight>
                <a:latin typeface="source-serif-pro"/>
              </a:rPr>
              <a:t>non-leaf node, then all the child pointers after the splitting point will be moved as well.</a:t>
            </a:r>
            <a:endParaRPr lang="en-US" b="0" i="0" dirty="0">
              <a:solidFill>
                <a:srgbClr val="242424"/>
              </a:solidFill>
              <a:effectLst/>
              <a:highlight>
                <a:srgbClr val="FFFFFF"/>
              </a:highlight>
              <a:latin typeface="source-serif-pro"/>
            </a:endParaRPr>
          </a:p>
          <a:p>
            <a:pPr algn="l"/>
            <a:endParaRPr lang="en-US" b="0" i="0" dirty="0">
              <a:solidFill>
                <a:srgbClr val="242424"/>
              </a:solidFill>
              <a:effectLst/>
              <a:highlight>
                <a:srgbClr val="FFFFFF"/>
              </a:highlight>
              <a:latin typeface="source-serif-pro"/>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86813"/>
            <a:ext cx="10515600" cy="5990150"/>
          </a:xfrm>
        </p:spPr>
        <p:txBody>
          <a:bodyPr>
            <a:normAutofit/>
          </a:bodyPr>
          <a:lstStyle/>
          <a:p>
            <a:pPr algn="l"/>
            <a:r>
              <a:rPr lang="en-US" sz="2000" b="0" i="0" dirty="0">
                <a:solidFill>
                  <a:srgbClr val="242424"/>
                </a:solidFill>
                <a:effectLst/>
                <a:highlight>
                  <a:srgbClr val="FFFFFF"/>
                </a:highlight>
                <a:latin typeface="source-serif-pro"/>
              </a:rPr>
              <a:t>The first key and a corresponding pointer are moved to the parent, thus </a:t>
            </a:r>
            <a:endParaRPr lang="en-US" sz="2000" b="0" i="0" dirty="0">
              <a:solidFill>
                <a:srgbClr val="242424"/>
              </a:solidFill>
              <a:effectLst/>
              <a:highlight>
                <a:srgbClr val="FFFFFF"/>
              </a:highlight>
              <a:latin typeface="source-serif-pro"/>
            </a:endParaRPr>
          </a:p>
          <a:p>
            <a:pPr algn="l"/>
            <a:r>
              <a:rPr lang="en-US" sz="2000" b="0" i="0" dirty="0">
                <a:solidFill>
                  <a:srgbClr val="242424"/>
                </a:solidFill>
                <a:effectLst/>
                <a:highlight>
                  <a:srgbClr val="FFFFFF"/>
                </a:highlight>
                <a:latin typeface="source-serif-pro"/>
              </a:rPr>
              <a:t>increasing its occupancy. This might result in overflow again, so rebalancing </a:t>
            </a:r>
            <a:endParaRPr lang="en-US" sz="2000" b="0" i="0" dirty="0">
              <a:solidFill>
                <a:srgbClr val="242424"/>
              </a:solidFill>
              <a:effectLst/>
              <a:highlight>
                <a:srgbClr val="FFFFFF"/>
              </a:highlight>
              <a:latin typeface="source-serif-pro"/>
            </a:endParaRPr>
          </a:p>
          <a:p>
            <a:pPr algn="l"/>
            <a:r>
              <a:rPr lang="en-US" sz="2000" b="0" i="0" dirty="0">
                <a:solidFill>
                  <a:srgbClr val="242424"/>
                </a:solidFill>
                <a:effectLst/>
                <a:highlight>
                  <a:srgbClr val="FFFFFF"/>
                </a:highlight>
                <a:latin typeface="source-serif-pro"/>
              </a:rPr>
              <a:t>has to be repeated recursively all the way up the tree.</a:t>
            </a:r>
            <a:endParaRPr lang="en-US" sz="2000" b="0" i="0" dirty="0">
              <a:solidFill>
                <a:srgbClr val="242424"/>
              </a:solidFill>
              <a:effectLst/>
              <a:highlight>
                <a:srgbClr val="FFFFFF"/>
              </a:highlight>
              <a:latin typeface="source-serif-pro"/>
            </a:endParaRPr>
          </a:p>
          <a:p>
            <a:pPr algn="l"/>
            <a:r>
              <a:rPr lang="en-US" sz="2000" b="0" i="0" dirty="0">
                <a:solidFill>
                  <a:srgbClr val="242424"/>
                </a:solidFill>
                <a:effectLst/>
                <a:highlight>
                  <a:srgbClr val="FFFFFF"/>
                </a:highlight>
                <a:latin typeface="source-serif-pro"/>
              </a:rPr>
              <a:t>The first key and a corresponding pointer are moved to the parent, thus </a:t>
            </a:r>
            <a:endParaRPr lang="en-US" sz="2000" b="0" i="0" dirty="0">
              <a:solidFill>
                <a:srgbClr val="242424"/>
              </a:solidFill>
              <a:effectLst/>
              <a:highlight>
                <a:srgbClr val="FFFFFF"/>
              </a:highlight>
              <a:latin typeface="source-serif-pro"/>
            </a:endParaRPr>
          </a:p>
          <a:p>
            <a:pPr algn="l"/>
            <a:r>
              <a:rPr lang="en-US" sz="2000" b="0" i="0" dirty="0">
                <a:solidFill>
                  <a:srgbClr val="242424"/>
                </a:solidFill>
                <a:effectLst/>
                <a:highlight>
                  <a:srgbClr val="FFFFFF"/>
                </a:highlight>
                <a:latin typeface="source-serif-pro"/>
              </a:rPr>
              <a:t>increasing its occupancy. This might result in overflow again, so rebalancing </a:t>
            </a:r>
            <a:endParaRPr lang="en-US" sz="2000" b="0" i="0" dirty="0">
              <a:solidFill>
                <a:srgbClr val="242424"/>
              </a:solidFill>
              <a:effectLst/>
              <a:highlight>
                <a:srgbClr val="FFFFFF"/>
              </a:highlight>
              <a:latin typeface="source-serif-pro"/>
            </a:endParaRPr>
          </a:p>
          <a:p>
            <a:pPr algn="l"/>
            <a:r>
              <a:rPr lang="en-US" sz="2000" b="0" i="0" dirty="0">
                <a:solidFill>
                  <a:srgbClr val="242424"/>
                </a:solidFill>
                <a:effectLst/>
                <a:highlight>
                  <a:srgbClr val="FFFFFF"/>
                </a:highlight>
                <a:latin typeface="source-serif-pro"/>
              </a:rPr>
              <a:t>has to be repeated recursively all the way up the tree.</a:t>
            </a:r>
            <a:endParaRPr lang="en-US" sz="2000" b="0" i="0" dirty="0">
              <a:solidFill>
                <a:srgbClr val="242424"/>
              </a:solidFill>
              <a:effectLst/>
              <a:highlight>
                <a:srgbClr val="FFFFFF"/>
              </a:highlight>
              <a:latin typeface="source-serif-pro"/>
            </a:endParaRPr>
          </a:p>
          <a:p>
            <a:pPr marL="0" indent="0">
              <a:buNone/>
            </a:pPr>
            <a:endParaRPr lang="en-IN" sz="2000" dirty="0"/>
          </a:p>
        </p:txBody>
      </p:sp>
      <p:pic>
        <p:nvPicPr>
          <p:cNvPr id="5" name="Picture 4"/>
          <p:cNvPicPr>
            <a:picLocks noChangeAspect="1"/>
          </p:cNvPicPr>
          <p:nvPr/>
        </p:nvPicPr>
        <p:blipFill>
          <a:blip r:embed="rId1"/>
          <a:stretch>
            <a:fillRect/>
          </a:stretch>
        </p:blipFill>
        <p:spPr>
          <a:xfrm>
            <a:off x="2349352" y="2820253"/>
            <a:ext cx="7178662" cy="2987299"/>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14632"/>
            <a:ext cx="10515600" cy="5862331"/>
          </a:xfrm>
        </p:spPr>
        <p:txBody>
          <a:bodyPr>
            <a:normAutofit fontScale="60000"/>
          </a:bodyPr>
          <a:lstStyle/>
          <a:p>
            <a:pPr algn="l"/>
            <a:r>
              <a:rPr lang="en-US" b="1" i="0" dirty="0">
                <a:solidFill>
                  <a:srgbClr val="242424"/>
                </a:solidFill>
                <a:effectLst/>
                <a:highlight>
                  <a:srgbClr val="FFFFFF"/>
                </a:highlight>
                <a:latin typeface="sohne"/>
              </a:rPr>
              <a:t>Deleting</a:t>
            </a:r>
            <a:endParaRPr lang="en-US" b="1" i="0" dirty="0">
              <a:solidFill>
                <a:srgbClr val="242424"/>
              </a:solidFill>
              <a:effectLst/>
              <a:highlight>
                <a:srgbClr val="FFFFFF"/>
              </a:highlight>
              <a:latin typeface="sohne"/>
            </a:endParaRPr>
          </a:p>
          <a:p>
            <a:pPr algn="l"/>
            <a:r>
              <a:rPr lang="en-US" b="0" i="0" dirty="0">
                <a:solidFill>
                  <a:srgbClr val="242424"/>
                </a:solidFill>
                <a:effectLst/>
                <a:highlight>
                  <a:srgbClr val="FFFFFF"/>
                </a:highlight>
                <a:latin typeface="source-serif-pro"/>
              </a:rPr>
              <a:t>When deleting, the target node and the deletion index </a:t>
            </a:r>
            <a:endParaRPr lang="en-US" b="0" i="0" dirty="0">
              <a:solidFill>
                <a:srgbClr val="242424"/>
              </a:solidFill>
              <a:effectLst/>
              <a:highlight>
                <a:srgbClr val="FFFFFF"/>
              </a:highlight>
              <a:latin typeface="source-serif-pro"/>
            </a:endParaRPr>
          </a:p>
          <a:p>
            <a:pPr algn="l"/>
            <a:r>
              <a:rPr lang="en-US" b="0" i="0" dirty="0">
                <a:solidFill>
                  <a:srgbClr val="242424"/>
                </a:solidFill>
                <a:effectLst/>
                <a:highlight>
                  <a:srgbClr val="FFFFFF"/>
                </a:highlight>
                <a:latin typeface="source-serif-pro"/>
              </a:rPr>
              <a:t>are located. After removing, a node can get out of </a:t>
            </a:r>
            <a:endParaRPr lang="en-US" b="0" i="0" dirty="0">
              <a:solidFill>
                <a:srgbClr val="242424"/>
              </a:solidFill>
              <a:effectLst/>
              <a:highlight>
                <a:srgbClr val="FFFFFF"/>
              </a:highlight>
              <a:latin typeface="source-serif-pro"/>
            </a:endParaRPr>
          </a:p>
          <a:p>
            <a:pPr algn="l"/>
            <a:r>
              <a:rPr lang="en-US" b="0" i="0" dirty="0">
                <a:solidFill>
                  <a:srgbClr val="242424"/>
                </a:solidFill>
                <a:effectLst/>
                <a:highlight>
                  <a:srgbClr val="FFFFFF"/>
                </a:highlight>
                <a:latin typeface="source-serif-pro"/>
              </a:rPr>
              <a:t>balance by having too few values (</a:t>
            </a:r>
            <a:r>
              <a:rPr lang="en-US" b="0" i="1" dirty="0">
                <a:solidFill>
                  <a:srgbClr val="242424"/>
                </a:solidFill>
                <a:effectLst/>
                <a:highlight>
                  <a:srgbClr val="FFFFFF"/>
                </a:highlight>
                <a:latin typeface="source-serif-pro"/>
              </a:rPr>
              <a:t>n</a:t>
            </a:r>
            <a:r>
              <a:rPr lang="en-US" b="0" i="0" dirty="0">
                <a:solidFill>
                  <a:srgbClr val="242424"/>
                </a:solidFill>
                <a:effectLst/>
                <a:highlight>
                  <a:srgbClr val="FFFFFF"/>
                </a:highlight>
                <a:latin typeface="source-serif-pro"/>
              </a:rPr>
              <a:t>&lt;</a:t>
            </a:r>
            <a:r>
              <a:rPr lang="en-US" b="0" i="1" dirty="0">
                <a:solidFill>
                  <a:srgbClr val="242424"/>
                </a:solidFill>
                <a:effectLst/>
                <a:highlight>
                  <a:srgbClr val="FFFFFF"/>
                </a:highlight>
                <a:latin typeface="source-serif-pro"/>
              </a:rPr>
              <a:t>k</a:t>
            </a:r>
            <a:r>
              <a:rPr lang="en-US" b="0" i="0" dirty="0">
                <a:solidFill>
                  <a:srgbClr val="242424"/>
                </a:solidFill>
                <a:effectLst/>
                <a:highlight>
                  <a:srgbClr val="FFFFFF"/>
                </a:highlight>
                <a:latin typeface="source-serif-pro"/>
              </a:rPr>
              <a:t>). It can be solved </a:t>
            </a:r>
            <a:endParaRPr lang="en-US" b="0" i="0" dirty="0">
              <a:solidFill>
                <a:srgbClr val="242424"/>
              </a:solidFill>
              <a:effectLst/>
              <a:highlight>
                <a:srgbClr val="FFFFFF"/>
              </a:highlight>
              <a:latin typeface="source-serif-pro"/>
            </a:endParaRPr>
          </a:p>
          <a:p>
            <a:pPr algn="l"/>
            <a:r>
              <a:rPr lang="en-US" b="0" i="0" dirty="0">
                <a:solidFill>
                  <a:srgbClr val="242424"/>
                </a:solidFill>
                <a:effectLst/>
                <a:highlight>
                  <a:srgbClr val="FFFFFF"/>
                </a:highlight>
                <a:latin typeface="source-serif-pro"/>
              </a:rPr>
              <a:t>either by merging nodes or by rotating.</a:t>
            </a:r>
            <a:endParaRPr lang="en-US" b="0" i="0" dirty="0">
              <a:solidFill>
                <a:srgbClr val="242424"/>
              </a:solidFill>
              <a:effectLst/>
              <a:highlight>
                <a:srgbClr val="FFFFFF"/>
              </a:highlight>
              <a:latin typeface="source-serif-pro"/>
            </a:endParaRPr>
          </a:p>
          <a:p>
            <a:pPr algn="l"/>
            <a:r>
              <a:rPr lang="en-US" b="0" i="0" dirty="0">
                <a:solidFill>
                  <a:srgbClr val="242424"/>
                </a:solidFill>
                <a:effectLst/>
                <a:highlight>
                  <a:srgbClr val="FFFFFF"/>
                </a:highlight>
                <a:latin typeface="source-serif-pro"/>
              </a:rPr>
              <a:t>Rotation can be done to the right or the left, </a:t>
            </a:r>
            <a:endParaRPr lang="en-US" b="0" i="0" dirty="0">
              <a:solidFill>
                <a:srgbClr val="242424"/>
              </a:solidFill>
              <a:effectLst/>
              <a:highlight>
                <a:srgbClr val="FFFFFF"/>
              </a:highlight>
              <a:latin typeface="source-serif-pro"/>
            </a:endParaRPr>
          </a:p>
          <a:p>
            <a:pPr algn="l"/>
            <a:r>
              <a:rPr lang="en-US" b="0" i="0" dirty="0">
                <a:solidFill>
                  <a:srgbClr val="242424"/>
                </a:solidFill>
                <a:effectLst/>
                <a:highlight>
                  <a:srgbClr val="FFFFFF"/>
                </a:highlight>
                <a:latin typeface="source-serif-pro"/>
              </a:rPr>
              <a:t>depending on which node has an item to spare. A right </a:t>
            </a:r>
            <a:endParaRPr lang="en-US" b="0" i="0" dirty="0">
              <a:solidFill>
                <a:srgbClr val="242424"/>
              </a:solidFill>
              <a:effectLst/>
              <a:highlight>
                <a:srgbClr val="FFFFFF"/>
              </a:highlight>
              <a:latin typeface="source-serif-pro"/>
            </a:endParaRPr>
          </a:p>
          <a:p>
            <a:pPr algn="l"/>
            <a:r>
              <a:rPr lang="en-US" b="0" i="0" dirty="0">
                <a:solidFill>
                  <a:srgbClr val="242424"/>
                </a:solidFill>
                <a:effectLst/>
                <a:highlight>
                  <a:srgbClr val="FFFFFF"/>
                </a:highlight>
                <a:latin typeface="source-serif-pro"/>
              </a:rPr>
              <a:t>rotation, for example, is done by copying the separator </a:t>
            </a:r>
            <a:endParaRPr lang="en-US" b="0" i="0" dirty="0">
              <a:solidFill>
                <a:srgbClr val="242424"/>
              </a:solidFill>
              <a:effectLst/>
              <a:highlight>
                <a:srgbClr val="FFFFFF"/>
              </a:highlight>
              <a:latin typeface="source-serif-pro"/>
            </a:endParaRPr>
          </a:p>
          <a:p>
            <a:pPr algn="l"/>
            <a:r>
              <a:rPr lang="en-US" b="0" i="0" dirty="0">
                <a:solidFill>
                  <a:srgbClr val="242424"/>
                </a:solidFill>
                <a:effectLst/>
                <a:highlight>
                  <a:srgbClr val="FFFFFF"/>
                </a:highlight>
                <a:latin typeface="source-serif-pro"/>
              </a:rPr>
              <a:t>key from the parent to the start of the underflow node </a:t>
            </a:r>
            <a:endParaRPr lang="en-US" b="0" i="0" dirty="0">
              <a:solidFill>
                <a:srgbClr val="242424"/>
              </a:solidFill>
              <a:effectLst/>
              <a:highlight>
                <a:srgbClr val="FFFFFF"/>
              </a:highlight>
              <a:latin typeface="source-serif-pro"/>
            </a:endParaRPr>
          </a:p>
          <a:p>
            <a:pPr algn="l"/>
            <a:r>
              <a:rPr lang="en-US" b="0" i="0" dirty="0">
                <a:solidFill>
                  <a:srgbClr val="242424"/>
                </a:solidFill>
                <a:effectLst/>
                <a:highlight>
                  <a:srgbClr val="FFFFFF"/>
                </a:highlight>
                <a:latin typeface="source-serif-pro"/>
              </a:rPr>
              <a:t>and replacing the separator key with the last element </a:t>
            </a:r>
            <a:endParaRPr lang="en-US" b="0" i="0" dirty="0">
              <a:solidFill>
                <a:srgbClr val="242424"/>
              </a:solidFill>
              <a:effectLst/>
              <a:highlight>
                <a:srgbClr val="FFFFFF"/>
              </a:highlight>
              <a:latin typeface="source-serif-pro"/>
            </a:endParaRPr>
          </a:p>
          <a:p>
            <a:pPr algn="l"/>
            <a:r>
              <a:rPr lang="en-US" b="0" i="0" dirty="0">
                <a:solidFill>
                  <a:srgbClr val="242424"/>
                </a:solidFill>
                <a:effectLst/>
                <a:highlight>
                  <a:srgbClr val="FFFFFF"/>
                </a:highlight>
                <a:latin typeface="source-serif-pro"/>
              </a:rPr>
              <a:t>of its left sibling. When rotating a non-leaf node, the </a:t>
            </a:r>
            <a:endParaRPr lang="en-US" b="0" i="0" dirty="0">
              <a:solidFill>
                <a:srgbClr val="242424"/>
              </a:solidFill>
              <a:effectLst/>
              <a:highlight>
                <a:srgbClr val="FFFFFF"/>
              </a:highlight>
              <a:latin typeface="source-serif-pro"/>
            </a:endParaRPr>
          </a:p>
          <a:p>
            <a:pPr algn="l"/>
            <a:r>
              <a:rPr lang="en-US" b="0" i="0" dirty="0">
                <a:solidFill>
                  <a:srgbClr val="242424"/>
                </a:solidFill>
                <a:effectLst/>
                <a:highlight>
                  <a:srgbClr val="FFFFFF"/>
                </a:highlight>
                <a:latin typeface="source-serif-pro"/>
              </a:rPr>
              <a:t>last child pointer of the left sibling is moved to the start of </a:t>
            </a:r>
            <a:endParaRPr lang="en-US" b="0" i="0" dirty="0">
              <a:solidFill>
                <a:srgbClr val="242424"/>
              </a:solidFill>
              <a:effectLst/>
              <a:highlight>
                <a:srgbClr val="FFFFFF"/>
              </a:highlight>
              <a:latin typeface="source-serif-pro"/>
            </a:endParaRPr>
          </a:p>
          <a:p>
            <a:pPr algn="l"/>
            <a:r>
              <a:rPr lang="en-US" b="0" i="0" dirty="0">
                <a:solidFill>
                  <a:srgbClr val="242424"/>
                </a:solidFill>
                <a:effectLst/>
                <a:highlight>
                  <a:srgbClr val="FFFFFF"/>
                </a:highlight>
                <a:latin typeface="source-serif-pro"/>
              </a:rPr>
              <a:t>the unbalanced one. A similar approach is made when </a:t>
            </a:r>
            <a:endParaRPr lang="en-US" b="0" i="0" dirty="0">
              <a:solidFill>
                <a:srgbClr val="242424"/>
              </a:solidFill>
              <a:effectLst/>
              <a:highlight>
                <a:srgbClr val="FFFFFF"/>
              </a:highlight>
              <a:latin typeface="source-serif-pro"/>
            </a:endParaRPr>
          </a:p>
          <a:p>
            <a:pPr algn="l"/>
            <a:endParaRPr lang="en-US" b="0" i="0" dirty="0">
              <a:solidFill>
                <a:srgbClr val="242424"/>
              </a:solidFill>
              <a:effectLst/>
              <a:highlight>
                <a:srgbClr val="FFFFFF"/>
              </a:highlight>
              <a:latin typeface="source-serif-pro"/>
            </a:endParaRPr>
          </a:p>
          <a:p>
            <a:pPr algn="l"/>
            <a:r>
              <a:rPr lang="en-US" b="0" i="0" dirty="0">
                <a:solidFill>
                  <a:srgbClr val="242424"/>
                </a:solidFill>
                <a:effectLst/>
                <a:highlight>
                  <a:srgbClr val="FFFFFF"/>
                </a:highlight>
                <a:latin typeface="source-serif-pro"/>
              </a:rPr>
              <a:t>performing a left rotation.</a:t>
            </a:r>
            <a:endParaRPr lang="en-US" b="0" i="0" dirty="0">
              <a:solidFill>
                <a:srgbClr val="242424"/>
              </a:solidFill>
              <a:effectLst/>
              <a:highlight>
                <a:srgbClr val="FFFFFF"/>
              </a:highlight>
              <a:latin typeface="source-serif-pro"/>
            </a:endParaRPr>
          </a:p>
          <a:p>
            <a:pPr marL="0" indent="0">
              <a:buNone/>
            </a:pPr>
            <a:endParaRPr lang="en-IN"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386347" y="3429000"/>
            <a:ext cx="10068233" cy="923330"/>
          </a:xfrm>
          <a:prstGeom prst="rect">
            <a:avLst/>
          </a:prstGeom>
          <a:noFill/>
        </p:spPr>
        <p:txBody>
          <a:bodyPr wrap="square">
            <a:spAutoFit/>
          </a:bodyPr>
          <a:lstStyle/>
          <a:p>
            <a:r>
              <a:rPr lang="en-US" b="0" i="0" dirty="0">
                <a:solidFill>
                  <a:srgbClr val="242424"/>
                </a:solidFill>
                <a:effectLst/>
                <a:highlight>
                  <a:srgbClr val="FFFFFF"/>
                </a:highlight>
                <a:latin typeface="source-serif-pro"/>
              </a:rPr>
              <a:t>If no sibling can spare an element (has </a:t>
            </a:r>
            <a:r>
              <a:rPr lang="en-US" b="0" i="1" dirty="0">
                <a:solidFill>
                  <a:srgbClr val="242424"/>
                </a:solidFill>
                <a:effectLst/>
                <a:highlight>
                  <a:srgbClr val="FFFFFF"/>
                </a:highlight>
                <a:latin typeface="source-serif-pro"/>
              </a:rPr>
              <a:t>k</a:t>
            </a:r>
            <a:r>
              <a:rPr lang="en-US" b="0" i="0" dirty="0">
                <a:solidFill>
                  <a:srgbClr val="242424"/>
                </a:solidFill>
                <a:effectLst/>
                <a:highlight>
                  <a:srgbClr val="FFFFFF"/>
                </a:highlight>
                <a:latin typeface="source-serif-pro"/>
              </a:rPr>
              <a:t> elements), the deficient node must be merged with a sibling. The merge causes the parent to lose a separator element, so the parent may become deficient and need rebalancing. Rebalancing may continue all the way to the root.</a:t>
            </a:r>
            <a:endParaRPr lang="en-IN" dirty="0"/>
          </a:p>
        </p:txBody>
      </p:sp>
      <p:pic>
        <p:nvPicPr>
          <p:cNvPr id="9" name="Picture 8"/>
          <p:cNvPicPr>
            <a:picLocks noChangeAspect="1"/>
          </p:cNvPicPr>
          <p:nvPr/>
        </p:nvPicPr>
        <p:blipFill>
          <a:blip r:embed="rId1"/>
          <a:stretch>
            <a:fillRect/>
          </a:stretch>
        </p:blipFill>
        <p:spPr>
          <a:xfrm>
            <a:off x="2506082" y="4366044"/>
            <a:ext cx="6530906" cy="2491956"/>
          </a:xfrm>
          <a:prstGeom prst="rect">
            <a:avLst/>
          </a:prstGeom>
        </p:spPr>
      </p:pic>
      <p:sp>
        <p:nvSpPr>
          <p:cNvPr id="11" name="Content Placeholder 10"/>
          <p:cNvSpPr>
            <a:spLocks noGrp="1"/>
          </p:cNvSpPr>
          <p:nvPr>
            <p:ph idx="1"/>
          </p:nvPr>
        </p:nvSpPr>
        <p:spPr/>
        <p:txBody>
          <a:bodyPr/>
          <a:lstStyle/>
          <a:p>
            <a:endParaRPr lang="en-IN"/>
          </a:p>
        </p:txBody>
      </p:sp>
      <p:pic>
        <p:nvPicPr>
          <p:cNvPr id="13" name="Picture 12"/>
          <p:cNvPicPr>
            <a:picLocks noChangeAspect="1"/>
          </p:cNvPicPr>
          <p:nvPr/>
        </p:nvPicPr>
        <p:blipFill>
          <a:blip r:embed="rId2"/>
          <a:stretch>
            <a:fillRect/>
          </a:stretch>
        </p:blipFill>
        <p:spPr>
          <a:xfrm>
            <a:off x="1590088" y="143314"/>
            <a:ext cx="7922027" cy="3033023"/>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9822"/>
            <a:ext cx="10515600" cy="785249"/>
          </a:xfrm>
        </p:spPr>
        <p:txBody>
          <a:bodyPr/>
          <a:lstStyle/>
          <a:p>
            <a:r>
              <a:rPr lang="en-US" dirty="0"/>
              <a:t>Hashing:</a:t>
            </a:r>
            <a:endParaRPr lang="en-IN" dirty="0"/>
          </a:p>
        </p:txBody>
      </p:sp>
      <p:sp>
        <p:nvSpPr>
          <p:cNvPr id="3" name="Content Placeholder 2"/>
          <p:cNvSpPr>
            <a:spLocks noGrp="1"/>
          </p:cNvSpPr>
          <p:nvPr>
            <p:ph idx="1"/>
          </p:nvPr>
        </p:nvSpPr>
        <p:spPr>
          <a:xfrm>
            <a:off x="838200" y="1140542"/>
            <a:ext cx="10515600" cy="5036421"/>
          </a:xfrm>
        </p:spPr>
        <p:txBody>
          <a:bodyPr>
            <a:normAutofit fontScale="52500" lnSpcReduction="20000"/>
          </a:bodyPr>
          <a:lstStyle/>
          <a:p>
            <a:pPr algn="l" fontAlgn="base"/>
            <a:r>
              <a:rPr lang="en-US" sz="3800" b="0" i="0" dirty="0">
                <a:solidFill>
                  <a:srgbClr val="333333"/>
                </a:solidFill>
                <a:effectLst/>
                <a:highlight>
                  <a:srgbClr val="FFFFFF"/>
                </a:highlight>
              </a:rPr>
              <a:t>Hashing technique is used to calculate the direct location of a data record on the </a:t>
            </a:r>
            <a:endParaRPr lang="en-US" sz="3800" b="0" i="0" dirty="0">
              <a:solidFill>
                <a:srgbClr val="333333"/>
              </a:solidFill>
              <a:effectLst/>
              <a:highlight>
                <a:srgbClr val="FFFFFF"/>
              </a:highlight>
            </a:endParaRPr>
          </a:p>
          <a:p>
            <a:pPr algn="l" fontAlgn="base"/>
            <a:r>
              <a:rPr lang="en-US" sz="3800" b="0" i="0" dirty="0">
                <a:solidFill>
                  <a:srgbClr val="333333"/>
                </a:solidFill>
                <a:effectLst/>
                <a:highlight>
                  <a:srgbClr val="FFFFFF"/>
                </a:highlight>
              </a:rPr>
              <a:t>disk without using index structure.</a:t>
            </a:r>
            <a:endParaRPr lang="en-US" sz="3800" b="1" i="0" dirty="0">
              <a:solidFill>
                <a:srgbClr val="273239"/>
              </a:solidFill>
              <a:effectLst/>
              <a:highlight>
                <a:srgbClr val="FFFFFF"/>
              </a:highlight>
            </a:endParaRPr>
          </a:p>
          <a:p>
            <a:pPr algn="just" rtl="0" fontAlgn="base"/>
            <a:r>
              <a:rPr lang="en-US" sz="3800" b="0" i="0" dirty="0">
                <a:solidFill>
                  <a:srgbClr val="273239"/>
                </a:solidFill>
                <a:effectLst/>
                <a:highlight>
                  <a:srgbClr val="FFFFFF"/>
                </a:highlight>
              </a:rPr>
              <a:t>The hashing technique utilizes an auxiliary hash table to store the data records </a:t>
            </a:r>
            <a:endParaRPr lang="en-US" sz="3800" b="0" i="0" dirty="0">
              <a:solidFill>
                <a:srgbClr val="273239"/>
              </a:solidFill>
              <a:effectLst/>
              <a:highlight>
                <a:srgbClr val="FFFFFF"/>
              </a:highlight>
            </a:endParaRPr>
          </a:p>
          <a:p>
            <a:pPr algn="just" rtl="0" fontAlgn="base"/>
            <a:r>
              <a:rPr lang="en-US" sz="3800" b="0" i="0" dirty="0">
                <a:solidFill>
                  <a:srgbClr val="273239"/>
                </a:solidFill>
                <a:effectLst/>
                <a:highlight>
                  <a:srgbClr val="FFFFFF"/>
                </a:highlight>
              </a:rPr>
              <a:t>using a hash function. </a:t>
            </a:r>
            <a:endParaRPr lang="en-US" sz="3800" b="0" i="0" dirty="0">
              <a:solidFill>
                <a:srgbClr val="273239"/>
              </a:solidFill>
              <a:effectLst/>
              <a:highlight>
                <a:srgbClr val="FFFFFF"/>
              </a:highlight>
            </a:endParaRPr>
          </a:p>
          <a:p>
            <a:pPr marL="0" indent="0" algn="just" rtl="0" fontAlgn="base">
              <a:buNone/>
            </a:pPr>
            <a:r>
              <a:rPr lang="en-US" sz="3800" b="0" i="0" dirty="0">
                <a:solidFill>
                  <a:srgbClr val="273239"/>
                </a:solidFill>
                <a:effectLst/>
                <a:highlight>
                  <a:srgbClr val="FFFFFF"/>
                </a:highlight>
              </a:rPr>
              <a:t>There are 3 key components in hashing:</a:t>
            </a:r>
            <a:endParaRPr lang="en-US" sz="3800" b="0" i="0" dirty="0">
              <a:solidFill>
                <a:srgbClr val="273239"/>
              </a:solidFill>
              <a:effectLst/>
              <a:highlight>
                <a:srgbClr val="FFFFFF"/>
              </a:highlight>
            </a:endParaRPr>
          </a:p>
          <a:p>
            <a:pPr algn="l" fontAlgn="base">
              <a:buFont typeface="Arial" panose="020B0604020202020204" pitchFamily="34" charset="0"/>
              <a:buChar char="•"/>
            </a:pPr>
            <a:r>
              <a:rPr lang="en-US" sz="3800" b="1" i="0" dirty="0">
                <a:solidFill>
                  <a:srgbClr val="273239"/>
                </a:solidFill>
                <a:effectLst/>
                <a:highlight>
                  <a:srgbClr val="FFFFFF"/>
                </a:highlight>
              </a:rPr>
              <a:t>Hash Table: </a:t>
            </a:r>
            <a:r>
              <a:rPr lang="en-US" sz="3800" b="0" i="0" dirty="0">
                <a:solidFill>
                  <a:srgbClr val="273239"/>
                </a:solidFill>
                <a:effectLst/>
                <a:highlight>
                  <a:srgbClr val="FFFFFF"/>
                </a:highlight>
              </a:rPr>
              <a:t>A hash table is an array or data structure and its size is determined by </a:t>
            </a:r>
            <a:endParaRPr lang="en-US" sz="3800" b="0" i="0" dirty="0">
              <a:solidFill>
                <a:srgbClr val="273239"/>
              </a:solidFill>
              <a:effectLst/>
              <a:highlight>
                <a:srgbClr val="FFFFFF"/>
              </a:highlight>
            </a:endParaRPr>
          </a:p>
          <a:p>
            <a:pPr algn="l" fontAlgn="base">
              <a:buFont typeface="Arial" panose="020B0604020202020204" pitchFamily="34" charset="0"/>
              <a:buChar char="•"/>
            </a:pPr>
            <a:r>
              <a:rPr lang="en-US" sz="3800" b="0" i="0" dirty="0">
                <a:solidFill>
                  <a:srgbClr val="273239"/>
                </a:solidFill>
                <a:effectLst/>
                <a:highlight>
                  <a:srgbClr val="FFFFFF"/>
                </a:highlight>
              </a:rPr>
              <a:t>the total volume of data records present in the database. Each memory location in a hash table is </a:t>
            </a:r>
            <a:endParaRPr lang="en-US" sz="3800" b="0" i="0" dirty="0">
              <a:solidFill>
                <a:srgbClr val="273239"/>
              </a:solidFill>
              <a:effectLst/>
              <a:highlight>
                <a:srgbClr val="FFFFFF"/>
              </a:highlight>
            </a:endParaRPr>
          </a:p>
          <a:p>
            <a:pPr algn="l" fontAlgn="base">
              <a:buFont typeface="Arial" panose="020B0604020202020204" pitchFamily="34" charset="0"/>
              <a:buChar char="•"/>
            </a:pPr>
            <a:r>
              <a:rPr lang="en-US" sz="3800" b="0" i="0" dirty="0">
                <a:solidFill>
                  <a:srgbClr val="273239"/>
                </a:solidFill>
                <a:effectLst/>
                <a:highlight>
                  <a:srgbClr val="FFFFFF"/>
                </a:highlight>
              </a:rPr>
              <a:t>called a ‘</a:t>
            </a:r>
            <a:r>
              <a:rPr lang="en-US" sz="3800" b="1" i="1" dirty="0">
                <a:solidFill>
                  <a:srgbClr val="273239"/>
                </a:solidFill>
                <a:effectLst/>
                <a:highlight>
                  <a:srgbClr val="FFFFFF"/>
                </a:highlight>
              </a:rPr>
              <a:t>bucket</a:t>
            </a:r>
            <a:r>
              <a:rPr lang="en-US" sz="3800" b="0" i="0" dirty="0">
                <a:solidFill>
                  <a:srgbClr val="273239"/>
                </a:solidFill>
                <a:effectLst/>
                <a:highlight>
                  <a:srgbClr val="FFFFFF"/>
                </a:highlight>
              </a:rPr>
              <a:t>‘ or hash in dice and stores a data record’s exact location and can be accessed </a:t>
            </a:r>
            <a:endParaRPr lang="en-US" sz="3800" b="0" i="0" dirty="0">
              <a:solidFill>
                <a:srgbClr val="273239"/>
              </a:solidFill>
              <a:effectLst/>
              <a:highlight>
                <a:srgbClr val="FFFFFF"/>
              </a:highlight>
            </a:endParaRPr>
          </a:p>
          <a:p>
            <a:pPr algn="l" fontAlgn="base">
              <a:buFont typeface="Arial" panose="020B0604020202020204" pitchFamily="34" charset="0"/>
              <a:buChar char="•"/>
            </a:pPr>
            <a:r>
              <a:rPr lang="en-US" sz="3800" b="0" i="0" dirty="0">
                <a:solidFill>
                  <a:srgbClr val="273239"/>
                </a:solidFill>
                <a:effectLst/>
                <a:highlight>
                  <a:srgbClr val="FFFFFF"/>
                </a:highlight>
              </a:rPr>
              <a:t>through a hash function.</a:t>
            </a:r>
            <a:endParaRPr lang="en-US" sz="3800" b="0" i="0" dirty="0">
              <a:solidFill>
                <a:srgbClr val="273239"/>
              </a:solidFill>
              <a:effectLst/>
              <a:highlight>
                <a:srgbClr val="FFFFFF"/>
              </a:highlight>
            </a:endParaRPr>
          </a:p>
          <a:p>
            <a:pPr algn="l" fontAlgn="base">
              <a:buFont typeface="Arial" panose="020B0604020202020204" pitchFamily="34" charset="0"/>
              <a:buChar char="•"/>
            </a:pPr>
            <a:r>
              <a:rPr lang="en-US" sz="3800" b="1" i="0" dirty="0">
                <a:solidFill>
                  <a:srgbClr val="273239"/>
                </a:solidFill>
                <a:effectLst/>
                <a:highlight>
                  <a:srgbClr val="FFFFFF"/>
                </a:highlight>
              </a:rPr>
              <a:t>Bucket: </a:t>
            </a:r>
            <a:r>
              <a:rPr lang="en-US" sz="3800" b="0" i="0" dirty="0">
                <a:solidFill>
                  <a:srgbClr val="273239"/>
                </a:solidFill>
                <a:effectLst/>
                <a:highlight>
                  <a:srgbClr val="FFFFFF"/>
                </a:highlight>
              </a:rPr>
              <a:t>A bucket is a memory location (index) in the hash table that stores the data record. These </a:t>
            </a:r>
            <a:endParaRPr lang="en-US" sz="3800" b="0" i="0" dirty="0">
              <a:solidFill>
                <a:srgbClr val="273239"/>
              </a:solidFill>
              <a:effectLst/>
              <a:highlight>
                <a:srgbClr val="FFFFFF"/>
              </a:highlight>
            </a:endParaRPr>
          </a:p>
          <a:p>
            <a:pPr algn="l" fontAlgn="base">
              <a:buFont typeface="Arial" panose="020B0604020202020204" pitchFamily="34" charset="0"/>
              <a:buChar char="•"/>
            </a:pPr>
            <a:r>
              <a:rPr lang="en-US" sz="3800" b="0" i="0" dirty="0">
                <a:solidFill>
                  <a:srgbClr val="273239"/>
                </a:solidFill>
                <a:effectLst/>
                <a:highlight>
                  <a:srgbClr val="FFFFFF"/>
                </a:highlight>
              </a:rPr>
              <a:t>buckets generally store a disk block which further stores multiple records. It is also known as the </a:t>
            </a:r>
            <a:endParaRPr lang="en-US" sz="3800" b="0" i="0" dirty="0">
              <a:solidFill>
                <a:srgbClr val="273239"/>
              </a:solidFill>
              <a:effectLst/>
              <a:highlight>
                <a:srgbClr val="FFFFFF"/>
              </a:highlight>
            </a:endParaRPr>
          </a:p>
          <a:p>
            <a:pPr algn="l" fontAlgn="base">
              <a:buFont typeface="Arial" panose="020B0604020202020204" pitchFamily="34" charset="0"/>
              <a:buChar char="•"/>
            </a:pPr>
            <a:r>
              <a:rPr lang="en-US" sz="3800" b="0" i="0" dirty="0">
                <a:solidFill>
                  <a:srgbClr val="273239"/>
                </a:solidFill>
                <a:effectLst/>
                <a:highlight>
                  <a:srgbClr val="FFFFFF"/>
                </a:highlight>
              </a:rPr>
              <a:t>hash index.</a:t>
            </a:r>
            <a:endParaRPr lang="en-US" sz="3800" b="0" i="0" dirty="0">
              <a:solidFill>
                <a:srgbClr val="273239"/>
              </a:solidFill>
              <a:effectLst/>
              <a:highlight>
                <a:srgbClr val="FFFFFF"/>
              </a:highlight>
            </a:endParaRPr>
          </a:p>
          <a:p>
            <a:pPr algn="l" fontAlgn="base">
              <a:buFont typeface="Arial" panose="020B0604020202020204" pitchFamily="34" charset="0"/>
              <a:buChar char="•"/>
            </a:pPr>
            <a:r>
              <a:rPr lang="en-US" sz="3800" b="1" i="0" dirty="0">
                <a:solidFill>
                  <a:srgbClr val="273239"/>
                </a:solidFill>
                <a:effectLst/>
                <a:highlight>
                  <a:srgbClr val="FFFFFF"/>
                </a:highlight>
              </a:rPr>
              <a:t>Hash Function: </a:t>
            </a:r>
            <a:r>
              <a:rPr lang="en-US" sz="3800" b="0" i="0" dirty="0">
                <a:solidFill>
                  <a:srgbClr val="273239"/>
                </a:solidFill>
                <a:effectLst/>
                <a:highlight>
                  <a:srgbClr val="FFFFFF"/>
                </a:highlight>
              </a:rPr>
              <a:t>A hash function is a mathematical equation or algorithm that takes one data </a:t>
            </a:r>
            <a:endParaRPr lang="en-US" sz="3800" b="0" i="0" dirty="0">
              <a:solidFill>
                <a:srgbClr val="273239"/>
              </a:solidFill>
              <a:effectLst/>
              <a:highlight>
                <a:srgbClr val="FFFFFF"/>
              </a:highlight>
            </a:endParaRPr>
          </a:p>
          <a:p>
            <a:pPr algn="l" fontAlgn="base">
              <a:buFont typeface="Arial" panose="020B0604020202020204" pitchFamily="34" charset="0"/>
              <a:buChar char="•"/>
            </a:pPr>
            <a:r>
              <a:rPr lang="en-US" sz="3800" b="0" i="0" dirty="0">
                <a:solidFill>
                  <a:srgbClr val="273239"/>
                </a:solidFill>
                <a:effectLst/>
                <a:highlight>
                  <a:srgbClr val="FFFFFF"/>
                </a:highlight>
              </a:rPr>
              <a:t>record’s primary key as input and computes the hash index as output.</a:t>
            </a:r>
            <a:endParaRPr lang="en-US" sz="3800" b="0" i="0" dirty="0">
              <a:solidFill>
                <a:srgbClr val="273239"/>
              </a:solidFill>
              <a:effectLst/>
              <a:highlight>
                <a:srgbClr val="FFFFFF"/>
              </a:highlight>
            </a:endParaRPr>
          </a:p>
          <a:p>
            <a:endParaRPr lang="en-US" b="0" i="0" dirty="0">
              <a:solidFill>
                <a:srgbClr val="333333"/>
              </a:solidFill>
              <a:effectLst/>
              <a:highlight>
                <a:srgbClr val="FFFFFF"/>
              </a:highlight>
              <a:latin typeface="inter-regul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1"/>
          <a:stretch>
            <a:fillRect/>
          </a:stretch>
        </p:blipFill>
        <p:spPr>
          <a:xfrm>
            <a:off x="2389347" y="368229"/>
            <a:ext cx="7492072" cy="4449577"/>
          </a:xfrm>
        </p:spPr>
      </p:pic>
      <p:sp>
        <p:nvSpPr>
          <p:cNvPr id="7" name="TextBox 6"/>
          <p:cNvSpPr txBox="1"/>
          <p:nvPr/>
        </p:nvSpPr>
        <p:spPr>
          <a:xfrm>
            <a:off x="1258528" y="4956757"/>
            <a:ext cx="8809703" cy="954107"/>
          </a:xfrm>
          <a:prstGeom prst="rect">
            <a:avLst/>
          </a:prstGeom>
          <a:noFill/>
        </p:spPr>
        <p:txBody>
          <a:bodyPr wrap="square">
            <a:spAutoFit/>
          </a:bodyPr>
          <a:lstStyle/>
          <a:p>
            <a:r>
              <a:rPr lang="en-US" sz="2800" b="0" i="0" dirty="0">
                <a:solidFill>
                  <a:srgbClr val="333333"/>
                </a:solidFill>
                <a:effectLst/>
                <a:highlight>
                  <a:srgbClr val="FFFFFF"/>
                </a:highlight>
              </a:rPr>
              <a:t>The above diagram shows data block addresses same as primary key value.</a:t>
            </a:r>
            <a:endParaRPr lang="en-IN" sz="2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03123"/>
            <a:ext cx="10515600" cy="5773840"/>
          </a:xfrm>
        </p:spPr>
        <p:txBody>
          <a:bodyPr/>
          <a:lstStyle/>
          <a:p>
            <a:r>
              <a:rPr lang="en-US" dirty="0">
                <a:solidFill>
                  <a:srgbClr val="333333"/>
                </a:solidFill>
                <a:highlight>
                  <a:srgbClr val="FFFFFF"/>
                </a:highlight>
                <a:latin typeface="inter-regular"/>
              </a:rPr>
              <a:t>H</a:t>
            </a:r>
            <a:r>
              <a:rPr lang="en-US" b="0" i="0" dirty="0">
                <a:solidFill>
                  <a:srgbClr val="333333"/>
                </a:solidFill>
                <a:effectLst/>
                <a:highlight>
                  <a:srgbClr val="FFFFFF"/>
                </a:highlight>
                <a:latin typeface="inter-regular"/>
              </a:rPr>
              <a:t>ash function can also be a simple mathematical function like exponential, mod, cos, sin, etc. Suppose </a:t>
            </a:r>
            <a:endParaRPr lang="en-US" b="0" i="0" dirty="0">
              <a:solidFill>
                <a:srgbClr val="333333"/>
              </a:solidFill>
              <a:effectLst/>
              <a:highlight>
                <a:srgbClr val="FFFFFF"/>
              </a:highlight>
              <a:latin typeface="inter-regular"/>
            </a:endParaRPr>
          </a:p>
          <a:p>
            <a:r>
              <a:rPr lang="en-US" b="0" i="0" dirty="0">
                <a:solidFill>
                  <a:srgbClr val="333333"/>
                </a:solidFill>
                <a:effectLst/>
                <a:highlight>
                  <a:srgbClr val="FFFFFF"/>
                </a:highlight>
                <a:latin typeface="inter-regular"/>
              </a:rPr>
              <a:t>we have mod (5) hash function to determine the </a:t>
            </a:r>
            <a:endParaRPr lang="en-US" b="0" i="0" dirty="0">
              <a:solidFill>
                <a:srgbClr val="333333"/>
              </a:solidFill>
              <a:effectLst/>
              <a:highlight>
                <a:srgbClr val="FFFFFF"/>
              </a:highlight>
              <a:latin typeface="inter-regular"/>
            </a:endParaRPr>
          </a:p>
          <a:p>
            <a:r>
              <a:rPr lang="en-US" b="0" i="0" dirty="0">
                <a:solidFill>
                  <a:srgbClr val="333333"/>
                </a:solidFill>
                <a:effectLst/>
                <a:highlight>
                  <a:srgbClr val="FFFFFF"/>
                </a:highlight>
                <a:latin typeface="inter-regular"/>
              </a:rPr>
              <a:t>address of the data block.</a:t>
            </a:r>
            <a:endParaRPr lang="en-US" b="0" i="0" dirty="0">
              <a:solidFill>
                <a:srgbClr val="333333"/>
              </a:solidFill>
              <a:effectLst/>
              <a:highlight>
                <a:srgbClr val="FFFFFF"/>
              </a:highlight>
              <a:latin typeface="inter-regular"/>
            </a:endParaRPr>
          </a:p>
          <a:p>
            <a:r>
              <a:rPr lang="en-US" dirty="0">
                <a:solidFill>
                  <a:srgbClr val="333333"/>
                </a:solidFill>
                <a:highlight>
                  <a:srgbClr val="FFFFFF"/>
                </a:highlight>
                <a:latin typeface="inter-regular"/>
              </a:rPr>
              <a:t>Let us</a:t>
            </a:r>
            <a:r>
              <a:rPr lang="en-US" b="0" i="0" dirty="0">
                <a:solidFill>
                  <a:srgbClr val="333333"/>
                </a:solidFill>
                <a:effectLst/>
                <a:highlight>
                  <a:srgbClr val="FFFFFF"/>
                </a:highlight>
                <a:latin typeface="inter-regular"/>
              </a:rPr>
              <a:t> apply mod (5) hash function on the primary </a:t>
            </a:r>
            <a:endParaRPr lang="en-US" b="0" i="0" dirty="0">
              <a:solidFill>
                <a:srgbClr val="333333"/>
              </a:solidFill>
              <a:effectLst/>
              <a:highlight>
                <a:srgbClr val="FFFFFF"/>
              </a:highlight>
              <a:latin typeface="inter-regular"/>
            </a:endParaRPr>
          </a:p>
          <a:p>
            <a:r>
              <a:rPr lang="en-US" b="0" i="0" dirty="0">
                <a:solidFill>
                  <a:srgbClr val="333333"/>
                </a:solidFill>
                <a:effectLst/>
                <a:highlight>
                  <a:srgbClr val="FFFFFF"/>
                </a:highlight>
                <a:latin typeface="inter-regular"/>
              </a:rPr>
              <a:t>keys and it generates 3, 3, 1, 4 and 2 respectively, and records are stored in those data block addresses.</a:t>
            </a:r>
            <a:endParaRPr lang="en-IN" dirty="0"/>
          </a:p>
        </p:txBody>
      </p:sp>
      <p:pic>
        <p:nvPicPr>
          <p:cNvPr id="5" name="Picture 4"/>
          <p:cNvPicPr>
            <a:picLocks noChangeAspect="1"/>
          </p:cNvPicPr>
          <p:nvPr/>
        </p:nvPicPr>
        <p:blipFill>
          <a:blip r:embed="rId1"/>
          <a:stretch>
            <a:fillRect/>
          </a:stretch>
        </p:blipFill>
        <p:spPr>
          <a:xfrm>
            <a:off x="4532570" y="3739024"/>
            <a:ext cx="8878528" cy="3683532"/>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Hashing:</a:t>
            </a:r>
            <a:endParaRPr lang="en-IN" dirty="0"/>
          </a:p>
        </p:txBody>
      </p:sp>
      <p:pic>
        <p:nvPicPr>
          <p:cNvPr id="5" name="Content Placeholder 4"/>
          <p:cNvPicPr>
            <a:picLocks noGrp="1" noChangeAspect="1"/>
          </p:cNvPicPr>
          <p:nvPr>
            <p:ph idx="1"/>
          </p:nvPr>
        </p:nvPicPr>
        <p:blipFill>
          <a:blip r:embed="rId1"/>
          <a:stretch>
            <a:fillRect/>
          </a:stretch>
        </p:blipFill>
        <p:spPr>
          <a:xfrm>
            <a:off x="2684206" y="1690689"/>
            <a:ext cx="7157884" cy="3537532"/>
          </a:xfr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Static Hashing:</a:t>
            </a:r>
            <a:endParaRPr lang="en-IN" dirty="0"/>
          </a:p>
        </p:txBody>
      </p:sp>
      <p:sp>
        <p:nvSpPr>
          <p:cNvPr id="3" name="Content Placeholder 2"/>
          <p:cNvSpPr>
            <a:spLocks noGrp="1"/>
          </p:cNvSpPr>
          <p:nvPr>
            <p:ph idx="1"/>
          </p:nvPr>
        </p:nvSpPr>
        <p:spPr/>
        <p:txBody>
          <a:bodyPr>
            <a:normAutofit fontScale="60000"/>
          </a:bodyPr>
          <a:lstStyle/>
          <a:p>
            <a:pPr algn="just"/>
            <a:r>
              <a:rPr lang="en-US" b="0" i="0" dirty="0">
                <a:solidFill>
                  <a:srgbClr val="333333"/>
                </a:solidFill>
                <a:effectLst/>
                <a:highlight>
                  <a:srgbClr val="FFFFFF"/>
                </a:highlight>
                <a:latin typeface="inter-regular"/>
              </a:rPr>
              <a:t>In static hashing, the resultant data bucket address will </a:t>
            </a:r>
            <a:endParaRPr lang="en-US" b="0" i="0" dirty="0">
              <a:solidFill>
                <a:srgbClr val="333333"/>
              </a:solidFill>
              <a:effectLst/>
              <a:highlight>
                <a:srgbClr val="FFFFFF"/>
              </a:highlight>
              <a:latin typeface="inter-regular"/>
            </a:endParaRPr>
          </a:p>
          <a:p>
            <a:pPr algn="just"/>
            <a:r>
              <a:rPr lang="en-US" b="0" i="0" dirty="0">
                <a:solidFill>
                  <a:srgbClr val="333333"/>
                </a:solidFill>
                <a:effectLst/>
                <a:highlight>
                  <a:srgbClr val="FFFFFF"/>
                </a:highlight>
                <a:latin typeface="inter-regular"/>
              </a:rPr>
              <a:t>always be the same. That means if we generate an </a:t>
            </a:r>
            <a:endParaRPr lang="en-US" b="0" i="0" dirty="0">
              <a:solidFill>
                <a:srgbClr val="333333"/>
              </a:solidFill>
              <a:effectLst/>
              <a:highlight>
                <a:srgbClr val="FFFFFF"/>
              </a:highlight>
              <a:latin typeface="inter-regular"/>
            </a:endParaRPr>
          </a:p>
          <a:p>
            <a:pPr algn="just"/>
            <a:r>
              <a:rPr lang="en-US" b="0" i="0" dirty="0">
                <a:solidFill>
                  <a:srgbClr val="333333"/>
                </a:solidFill>
                <a:effectLst/>
                <a:highlight>
                  <a:srgbClr val="FFFFFF"/>
                </a:highlight>
                <a:latin typeface="inter-regular"/>
              </a:rPr>
              <a:t>address for EMP_ID =103 using the hash function mod </a:t>
            </a:r>
            <a:endParaRPr lang="en-US" b="0" i="0" dirty="0">
              <a:solidFill>
                <a:srgbClr val="333333"/>
              </a:solidFill>
              <a:effectLst/>
              <a:highlight>
                <a:srgbClr val="FFFFFF"/>
              </a:highlight>
              <a:latin typeface="inter-regular"/>
            </a:endParaRPr>
          </a:p>
          <a:p>
            <a:pPr algn="just"/>
            <a:r>
              <a:rPr lang="en-US" b="0" i="0" dirty="0">
                <a:solidFill>
                  <a:srgbClr val="333333"/>
                </a:solidFill>
                <a:effectLst/>
                <a:highlight>
                  <a:srgbClr val="FFFFFF"/>
                </a:highlight>
                <a:latin typeface="inter-regular"/>
              </a:rPr>
              <a:t>(5) then it will always result in same bucket address 3. </a:t>
            </a:r>
            <a:endParaRPr lang="en-US" b="0" i="0" dirty="0">
              <a:solidFill>
                <a:srgbClr val="333333"/>
              </a:solidFill>
              <a:effectLst/>
              <a:highlight>
                <a:srgbClr val="FFFFFF"/>
              </a:highlight>
              <a:latin typeface="inter-regular"/>
            </a:endParaRPr>
          </a:p>
          <a:p>
            <a:pPr algn="just"/>
            <a:r>
              <a:rPr lang="en-US" b="0" i="0" dirty="0">
                <a:solidFill>
                  <a:srgbClr val="333333"/>
                </a:solidFill>
                <a:effectLst/>
                <a:highlight>
                  <a:srgbClr val="FFFFFF"/>
                </a:highlight>
                <a:latin typeface="inter-regular"/>
              </a:rPr>
              <a:t>Here, there will be no change in the bucket address.</a:t>
            </a:r>
            <a:endParaRPr lang="en-US" b="0" i="0" dirty="0">
              <a:solidFill>
                <a:srgbClr val="333333"/>
              </a:solidFill>
              <a:effectLst/>
              <a:highlight>
                <a:srgbClr val="FFFFFF"/>
              </a:highlight>
              <a:latin typeface="inter-regular"/>
            </a:endParaRPr>
          </a:p>
          <a:p>
            <a:pPr algn="just"/>
            <a:endParaRPr lang="en-US" b="0" i="0" dirty="0">
              <a:solidFill>
                <a:srgbClr val="333333"/>
              </a:solidFill>
              <a:effectLst/>
              <a:highlight>
                <a:srgbClr val="FFFFFF"/>
              </a:highlight>
              <a:latin typeface="inter-regular"/>
            </a:endParaRPr>
          </a:p>
          <a:p>
            <a:pPr algn="just"/>
            <a:r>
              <a:rPr lang="en-US" b="0" i="0" dirty="0">
                <a:solidFill>
                  <a:srgbClr val="333333"/>
                </a:solidFill>
                <a:effectLst/>
                <a:highlight>
                  <a:srgbClr val="FFFFFF"/>
                </a:highlight>
                <a:latin typeface="inter-regular"/>
              </a:rPr>
              <a:t>Hence in this static hashing, the number of data </a:t>
            </a:r>
            <a:endParaRPr lang="en-US" b="0" i="0" dirty="0">
              <a:solidFill>
                <a:srgbClr val="333333"/>
              </a:solidFill>
              <a:effectLst/>
              <a:highlight>
                <a:srgbClr val="FFFFFF"/>
              </a:highlight>
              <a:latin typeface="inter-regular"/>
            </a:endParaRPr>
          </a:p>
          <a:p>
            <a:pPr algn="just"/>
            <a:endParaRPr lang="en-US" b="0" i="0" dirty="0">
              <a:solidFill>
                <a:srgbClr val="333333"/>
              </a:solidFill>
              <a:effectLst/>
              <a:highlight>
                <a:srgbClr val="FFFFFF"/>
              </a:highlight>
              <a:latin typeface="inter-regular"/>
            </a:endParaRPr>
          </a:p>
          <a:p>
            <a:pPr algn="just"/>
            <a:r>
              <a:rPr lang="en-US" b="0" i="0" dirty="0">
                <a:solidFill>
                  <a:srgbClr val="333333"/>
                </a:solidFill>
                <a:effectLst/>
                <a:highlight>
                  <a:srgbClr val="FFFFFF"/>
                </a:highlight>
                <a:latin typeface="inter-regular"/>
              </a:rPr>
              <a:t>buckets in memory remains constant throughout. In </a:t>
            </a:r>
            <a:endParaRPr lang="en-US" b="0" i="0" dirty="0">
              <a:solidFill>
                <a:srgbClr val="333333"/>
              </a:solidFill>
              <a:effectLst/>
              <a:highlight>
                <a:srgbClr val="FFFFFF"/>
              </a:highlight>
              <a:latin typeface="inter-regular"/>
            </a:endParaRPr>
          </a:p>
          <a:p>
            <a:pPr algn="just"/>
            <a:r>
              <a:rPr lang="en-US" b="0" i="0" dirty="0">
                <a:solidFill>
                  <a:srgbClr val="333333"/>
                </a:solidFill>
                <a:effectLst/>
                <a:highlight>
                  <a:srgbClr val="FFFFFF"/>
                </a:highlight>
                <a:latin typeface="inter-regular"/>
              </a:rPr>
              <a:t>this example, we will have five data buckets in the </a:t>
            </a:r>
            <a:endParaRPr lang="en-US" b="0" i="0" dirty="0">
              <a:solidFill>
                <a:srgbClr val="333333"/>
              </a:solidFill>
              <a:effectLst/>
              <a:highlight>
                <a:srgbClr val="FFFFFF"/>
              </a:highlight>
              <a:latin typeface="inter-regular"/>
            </a:endParaRPr>
          </a:p>
          <a:p>
            <a:pPr algn="just"/>
            <a:r>
              <a:rPr lang="en-US" b="0" i="0" dirty="0">
                <a:solidFill>
                  <a:srgbClr val="333333"/>
                </a:solidFill>
                <a:effectLst/>
                <a:highlight>
                  <a:srgbClr val="FFFFFF"/>
                </a:highlight>
                <a:latin typeface="inter-regular"/>
              </a:rPr>
              <a:t>memory used to store the data.</a:t>
            </a:r>
            <a:endParaRPr lang="en-US" b="0" i="0" dirty="0">
              <a:solidFill>
                <a:srgbClr val="333333"/>
              </a:solidFill>
              <a:effectLst/>
              <a:highlight>
                <a:srgbClr val="FFFFFF"/>
              </a:highlight>
              <a:latin typeface="inter-regular"/>
            </a:endParaRPr>
          </a:p>
          <a:p>
            <a:endParaRPr lang="en-IN" dirty="0"/>
          </a:p>
          <a:p>
            <a:pPr marL="0" indent="0">
              <a:buNone/>
            </a:pPr>
            <a:endParaRPr lang="en-IN"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1"/>
          <a:stretch>
            <a:fillRect/>
          </a:stretch>
        </p:blipFill>
        <p:spPr>
          <a:xfrm>
            <a:off x="2363421" y="344253"/>
            <a:ext cx="5852667" cy="3414056"/>
          </a:xfrm>
        </p:spPr>
      </p:pic>
      <p:sp>
        <p:nvSpPr>
          <p:cNvPr id="7" name="TextBox 6"/>
          <p:cNvSpPr txBox="1"/>
          <p:nvPr/>
        </p:nvSpPr>
        <p:spPr>
          <a:xfrm>
            <a:off x="201561" y="3758309"/>
            <a:ext cx="11788877" cy="5692775"/>
          </a:xfrm>
          <a:prstGeom prst="rect">
            <a:avLst/>
          </a:prstGeom>
          <a:noFill/>
        </p:spPr>
        <p:txBody>
          <a:bodyPr wrap="square">
            <a:spAutoFit/>
          </a:bodyPr>
          <a:lstStyle/>
          <a:p>
            <a:pPr algn="just"/>
            <a:r>
              <a:rPr lang="en-IN" sz="2800" b="0" i="0" dirty="0">
                <a:effectLst/>
                <a:highlight>
                  <a:srgbClr val="FFFFFF"/>
                </a:highlight>
              </a:rPr>
              <a:t>Operations of Static Hashing</a:t>
            </a:r>
            <a:endParaRPr lang="en-IN" sz="2800" b="0" i="0" dirty="0">
              <a:effectLst/>
              <a:highlight>
                <a:srgbClr val="FFFFFF"/>
              </a:highlight>
            </a:endParaRPr>
          </a:p>
          <a:p>
            <a:pPr algn="just">
              <a:buFont typeface="Arial" panose="020B0604020202020204" pitchFamily="34" charset="0"/>
              <a:buChar char="•"/>
            </a:pPr>
            <a:r>
              <a:rPr lang="en-US" sz="2800" b="1" i="0" dirty="0">
                <a:solidFill>
                  <a:srgbClr val="000000"/>
                </a:solidFill>
                <a:effectLst/>
                <a:highlight>
                  <a:srgbClr val="FFFFFF"/>
                </a:highlight>
                <a:latin typeface="inter-bold"/>
              </a:rPr>
              <a:t>Searching a record</a:t>
            </a:r>
            <a:endParaRPr lang="en-US" sz="2800" b="0" i="0" dirty="0">
              <a:solidFill>
                <a:srgbClr val="000000"/>
              </a:solidFill>
              <a:effectLst/>
              <a:highlight>
                <a:srgbClr val="FFFFFF"/>
              </a:highlight>
              <a:latin typeface="inter-regular"/>
            </a:endParaRPr>
          </a:p>
          <a:p>
            <a:pPr algn="just"/>
            <a:r>
              <a:rPr lang="en-US" sz="2800" b="0" i="0" dirty="0">
                <a:solidFill>
                  <a:srgbClr val="333333"/>
                </a:solidFill>
                <a:effectLst/>
                <a:highlight>
                  <a:srgbClr val="FFFFFF"/>
                </a:highlight>
                <a:latin typeface="inter-regular"/>
              </a:rPr>
              <a:t>When a record needs to be searched, then the same hash </a:t>
            </a:r>
            <a:endParaRPr lang="en-US" sz="2800" b="0" i="0" dirty="0">
              <a:solidFill>
                <a:srgbClr val="333333"/>
              </a:solidFill>
              <a:effectLst/>
              <a:highlight>
                <a:srgbClr val="FFFFFF"/>
              </a:highlight>
              <a:latin typeface="inter-regular"/>
            </a:endParaRPr>
          </a:p>
          <a:p>
            <a:pPr algn="just"/>
            <a:r>
              <a:rPr lang="en-US" sz="2800" b="0" i="0" dirty="0">
                <a:solidFill>
                  <a:srgbClr val="333333"/>
                </a:solidFill>
                <a:effectLst/>
                <a:highlight>
                  <a:srgbClr val="FFFFFF"/>
                </a:highlight>
                <a:latin typeface="inter-regular"/>
              </a:rPr>
              <a:t>function retrieves the address of the bucket where the data is </a:t>
            </a:r>
            <a:endParaRPr lang="en-US" sz="2800" b="0" i="0" dirty="0">
              <a:solidFill>
                <a:srgbClr val="333333"/>
              </a:solidFill>
              <a:effectLst/>
              <a:highlight>
                <a:srgbClr val="FFFFFF"/>
              </a:highlight>
              <a:latin typeface="inter-regular"/>
            </a:endParaRPr>
          </a:p>
          <a:p>
            <a:pPr algn="just"/>
            <a:endParaRPr lang="en-US" sz="2800" b="0" i="0" dirty="0">
              <a:solidFill>
                <a:srgbClr val="333333"/>
              </a:solidFill>
              <a:effectLst/>
              <a:highlight>
                <a:srgbClr val="FFFFFF"/>
              </a:highlight>
              <a:latin typeface="inter-regular"/>
            </a:endParaRPr>
          </a:p>
          <a:p>
            <a:pPr algn="just"/>
            <a:r>
              <a:rPr lang="en-US" sz="2800" b="0" i="0" dirty="0">
                <a:solidFill>
                  <a:srgbClr val="333333"/>
                </a:solidFill>
                <a:effectLst/>
                <a:highlight>
                  <a:srgbClr val="FFFFFF"/>
                </a:highlight>
                <a:latin typeface="inter-regular"/>
              </a:rPr>
              <a:t>stored.</a:t>
            </a:r>
            <a:endParaRPr lang="en-US" sz="2800" b="0" i="0" dirty="0">
              <a:solidFill>
                <a:srgbClr val="333333"/>
              </a:solidFill>
              <a:effectLst/>
              <a:highlight>
                <a:srgbClr val="FFFFFF"/>
              </a:highlight>
              <a:latin typeface="inter-regular"/>
            </a:endParaRPr>
          </a:p>
          <a:p>
            <a:pPr algn="just">
              <a:buFont typeface="Arial" panose="020B0604020202020204" pitchFamily="34" charset="0"/>
              <a:buChar char="•"/>
            </a:pPr>
            <a:r>
              <a:rPr lang="en-US" sz="2800" b="1" i="0" dirty="0">
                <a:solidFill>
                  <a:srgbClr val="000000"/>
                </a:solidFill>
                <a:effectLst/>
                <a:highlight>
                  <a:srgbClr val="FFFFFF"/>
                </a:highlight>
                <a:latin typeface="inter-bold"/>
              </a:rPr>
              <a:t>Insert a Record</a:t>
            </a:r>
            <a:endParaRPr lang="en-US" sz="2800" b="0" i="0" dirty="0">
              <a:solidFill>
                <a:srgbClr val="000000"/>
              </a:solidFill>
              <a:effectLst/>
              <a:highlight>
                <a:srgbClr val="FFFFFF"/>
              </a:highlight>
              <a:latin typeface="inter-regular"/>
            </a:endParaRPr>
          </a:p>
          <a:p>
            <a:pPr algn="just"/>
            <a:r>
              <a:rPr lang="en-US" sz="2800" b="0" i="0" dirty="0">
                <a:solidFill>
                  <a:srgbClr val="333333"/>
                </a:solidFill>
                <a:effectLst/>
                <a:highlight>
                  <a:srgbClr val="FFFFFF"/>
                </a:highlight>
                <a:latin typeface="inter-regular"/>
              </a:rPr>
              <a:t>When a new record is inserted into the table, then we will </a:t>
            </a:r>
            <a:endParaRPr lang="en-US" sz="2800" b="0" i="0" dirty="0">
              <a:solidFill>
                <a:srgbClr val="333333"/>
              </a:solidFill>
              <a:effectLst/>
              <a:highlight>
                <a:srgbClr val="FFFFFF"/>
              </a:highlight>
              <a:latin typeface="inter-regular"/>
            </a:endParaRPr>
          </a:p>
          <a:p>
            <a:pPr algn="just"/>
            <a:endParaRPr lang="en-US" sz="2800" b="0" i="0" dirty="0">
              <a:solidFill>
                <a:srgbClr val="333333"/>
              </a:solidFill>
              <a:effectLst/>
              <a:highlight>
                <a:srgbClr val="FFFFFF"/>
              </a:highlight>
              <a:latin typeface="inter-regular"/>
            </a:endParaRPr>
          </a:p>
          <a:p>
            <a:pPr algn="just"/>
            <a:r>
              <a:rPr lang="en-US" sz="2800" b="0" i="0" dirty="0">
                <a:solidFill>
                  <a:srgbClr val="333333"/>
                </a:solidFill>
                <a:effectLst/>
                <a:highlight>
                  <a:srgbClr val="FFFFFF"/>
                </a:highlight>
                <a:latin typeface="inter-regular"/>
              </a:rPr>
              <a:t>generate an address for a new record based on the hash key </a:t>
            </a:r>
            <a:endParaRPr lang="en-US" sz="2800" b="0" i="0" dirty="0">
              <a:solidFill>
                <a:srgbClr val="333333"/>
              </a:solidFill>
              <a:effectLst/>
              <a:highlight>
                <a:srgbClr val="FFFFFF"/>
              </a:highlight>
              <a:latin typeface="inter-regular"/>
            </a:endParaRPr>
          </a:p>
          <a:p>
            <a:pPr algn="just"/>
            <a:endParaRPr lang="en-US" sz="2800" b="0" i="0" dirty="0">
              <a:solidFill>
                <a:srgbClr val="333333"/>
              </a:solidFill>
              <a:effectLst/>
              <a:highlight>
                <a:srgbClr val="FFFFFF"/>
              </a:highlight>
              <a:latin typeface="inter-regular"/>
            </a:endParaRPr>
          </a:p>
          <a:p>
            <a:pPr algn="just"/>
            <a:r>
              <a:rPr lang="en-US" sz="2800" b="0" i="0" dirty="0">
                <a:solidFill>
                  <a:srgbClr val="333333"/>
                </a:solidFill>
                <a:effectLst/>
                <a:highlight>
                  <a:srgbClr val="FFFFFF"/>
                </a:highlight>
                <a:latin typeface="inter-regular"/>
              </a:rPr>
              <a:t>and record is stored in that location.</a:t>
            </a:r>
            <a:endParaRPr lang="en-US" sz="2800" b="0" i="0" dirty="0">
              <a:solidFill>
                <a:srgbClr val="333333"/>
              </a:solidFill>
              <a:effectLst/>
              <a:highlight>
                <a:srgbClr val="FFFFFF"/>
              </a:highlight>
              <a:latin typeface="inter-regular"/>
            </a:endParaRPr>
          </a:p>
          <a:p>
            <a:pPr algn="just"/>
            <a:endParaRPr lang="en-IN" sz="2800" b="0" i="0" dirty="0">
              <a:effectLst/>
              <a:highlight>
                <a:srgbClr val="FFFFFF"/>
              </a:highlight>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56187" y="281960"/>
            <a:ext cx="10515600" cy="6482633"/>
          </a:xfrm>
        </p:spPr>
        <p:txBody>
          <a:bodyPr>
            <a:normAutofit fontScale="92500" lnSpcReduction="10000"/>
          </a:bodyPr>
          <a:lstStyle/>
          <a:p>
            <a:pPr marL="0" indent="0" algn="just">
              <a:buNone/>
            </a:pPr>
            <a:r>
              <a:rPr lang="en-US" b="1" i="0" dirty="0">
                <a:solidFill>
                  <a:srgbClr val="000000"/>
                </a:solidFill>
                <a:effectLst/>
                <a:highlight>
                  <a:srgbClr val="FFFFFF"/>
                </a:highlight>
                <a:latin typeface="inter-bold"/>
              </a:rPr>
              <a:t>Delete a Record</a:t>
            </a:r>
            <a:endParaRPr lang="en-US" b="0" i="0" dirty="0">
              <a:solidFill>
                <a:srgbClr val="000000"/>
              </a:solidFill>
              <a:effectLst/>
              <a:highlight>
                <a:srgbClr val="FFFFFF"/>
              </a:highlight>
              <a:latin typeface="inter-regular"/>
            </a:endParaRPr>
          </a:p>
          <a:p>
            <a:pPr algn="just"/>
            <a:r>
              <a:rPr lang="en-US" b="0" i="0" dirty="0">
                <a:solidFill>
                  <a:srgbClr val="333333"/>
                </a:solidFill>
                <a:effectLst/>
                <a:highlight>
                  <a:srgbClr val="FFFFFF"/>
                </a:highlight>
                <a:latin typeface="inter-regular"/>
              </a:rPr>
              <a:t>To delete a record, we will first fetch the record which is supposed to be deleted. Then we will delete the records for that address in memory.</a:t>
            </a:r>
            <a:endParaRPr lang="en-US" b="0" i="0" dirty="0">
              <a:solidFill>
                <a:srgbClr val="333333"/>
              </a:solidFill>
              <a:effectLst/>
              <a:highlight>
                <a:srgbClr val="FFFFFF"/>
              </a:highlight>
              <a:latin typeface="inter-regular"/>
            </a:endParaRPr>
          </a:p>
          <a:p>
            <a:pPr marL="0" indent="0" algn="just">
              <a:buNone/>
            </a:pPr>
            <a:r>
              <a:rPr lang="en-US" b="1" i="0" dirty="0">
                <a:solidFill>
                  <a:srgbClr val="000000"/>
                </a:solidFill>
                <a:effectLst/>
                <a:highlight>
                  <a:srgbClr val="FFFFFF"/>
                </a:highlight>
                <a:latin typeface="inter-bold"/>
              </a:rPr>
              <a:t>Update a Record</a:t>
            </a:r>
            <a:endParaRPr lang="en-US" b="0" i="0" dirty="0">
              <a:solidFill>
                <a:srgbClr val="000000"/>
              </a:solidFill>
              <a:effectLst/>
              <a:highlight>
                <a:srgbClr val="FFFFFF"/>
              </a:highlight>
              <a:latin typeface="inter-regular"/>
            </a:endParaRPr>
          </a:p>
          <a:p>
            <a:pPr algn="just"/>
            <a:r>
              <a:rPr lang="en-US" b="0" i="0" dirty="0">
                <a:solidFill>
                  <a:srgbClr val="333333"/>
                </a:solidFill>
                <a:effectLst/>
                <a:highlight>
                  <a:srgbClr val="FFFFFF"/>
                </a:highlight>
                <a:latin typeface="inter-regular"/>
              </a:rPr>
              <a:t>To update a record, we will first search it using a hash function, and then the data record is updated.</a:t>
            </a:r>
            <a:endParaRPr lang="en-US" b="0" i="0" dirty="0">
              <a:solidFill>
                <a:srgbClr val="333333"/>
              </a:solidFill>
              <a:effectLst/>
              <a:highlight>
                <a:srgbClr val="FFFFFF"/>
              </a:highlight>
              <a:latin typeface="inter-regular"/>
            </a:endParaRPr>
          </a:p>
          <a:p>
            <a:pPr algn="just"/>
            <a:r>
              <a:rPr lang="en-US" b="0" i="0" dirty="0">
                <a:solidFill>
                  <a:srgbClr val="333333"/>
                </a:solidFill>
                <a:effectLst/>
                <a:highlight>
                  <a:srgbClr val="FFFFFF"/>
                </a:highlight>
                <a:latin typeface="inter-regular"/>
              </a:rPr>
              <a:t>If we want to insert some new record into the file but the address of a data bucket generated by the hash function is not empty, or data already exists in that address. This situation in the static hashing is known as </a:t>
            </a:r>
            <a:r>
              <a:rPr lang="en-US" b="1" i="0" dirty="0">
                <a:solidFill>
                  <a:srgbClr val="333333"/>
                </a:solidFill>
                <a:effectLst/>
                <a:highlight>
                  <a:srgbClr val="FFFFFF"/>
                </a:highlight>
                <a:latin typeface="inter-bold"/>
              </a:rPr>
              <a:t>bucket overflow</a:t>
            </a:r>
            <a:r>
              <a:rPr lang="en-US" b="0" i="0" dirty="0">
                <a:solidFill>
                  <a:srgbClr val="333333"/>
                </a:solidFill>
                <a:effectLst/>
                <a:highlight>
                  <a:srgbClr val="FFFFFF"/>
                </a:highlight>
                <a:latin typeface="inter-regular"/>
              </a:rPr>
              <a:t>. This is a critical situation in this method. </a:t>
            </a:r>
            <a:endParaRPr lang="en-US" b="0" i="0" dirty="0">
              <a:solidFill>
                <a:srgbClr val="333333"/>
              </a:solidFill>
              <a:effectLst/>
              <a:highlight>
                <a:srgbClr val="FFFFFF"/>
              </a:highlight>
              <a:latin typeface="inter-regular"/>
            </a:endParaRPr>
          </a:p>
          <a:p>
            <a:pPr marL="0" indent="0" algn="just">
              <a:buNone/>
            </a:pPr>
            <a:r>
              <a:rPr lang="en-US" b="0" i="0" dirty="0">
                <a:solidFill>
                  <a:srgbClr val="333333"/>
                </a:solidFill>
                <a:effectLst/>
                <a:highlight>
                  <a:srgbClr val="FFFFFF"/>
                </a:highlight>
                <a:latin typeface="inter-regular"/>
              </a:rPr>
              <a:t>To overcome this situation, there are various methods. Some commonly used methods are as follows:</a:t>
            </a:r>
            <a:endParaRPr lang="en-US" b="0" i="0" dirty="0">
              <a:solidFill>
                <a:srgbClr val="333333"/>
              </a:solidFill>
              <a:effectLst/>
              <a:highlight>
                <a:srgbClr val="FFFFFF"/>
              </a:highlight>
              <a:latin typeface="inter-regular"/>
            </a:endParaRPr>
          </a:p>
          <a:p>
            <a:pPr marL="0" indent="0" algn="just">
              <a:buNone/>
            </a:pPr>
            <a:r>
              <a:rPr lang="en-US" b="0" i="0" dirty="0">
                <a:effectLst/>
                <a:highlight>
                  <a:srgbClr val="FFFFFF"/>
                </a:highlight>
                <a:latin typeface="erdana"/>
              </a:rPr>
              <a:t>1. Open Hashing</a:t>
            </a:r>
            <a:endParaRPr lang="en-US" b="0" i="0" dirty="0">
              <a:effectLst/>
              <a:highlight>
                <a:srgbClr val="FFFFFF"/>
              </a:highlight>
              <a:latin typeface="erdana"/>
            </a:endParaRPr>
          </a:p>
          <a:p>
            <a:pPr algn="just"/>
            <a:r>
              <a:rPr lang="en-US" b="0" i="0" dirty="0">
                <a:solidFill>
                  <a:srgbClr val="333333"/>
                </a:solidFill>
                <a:effectLst/>
                <a:highlight>
                  <a:srgbClr val="FFFFFF"/>
                </a:highlight>
                <a:latin typeface="inter-regular"/>
              </a:rPr>
              <a:t>When a hash function generates an address at which data is already stored, then the next bucket will be allocated to it. This mechanism is called as </a:t>
            </a:r>
            <a:r>
              <a:rPr lang="en-US" b="1" i="0" dirty="0">
                <a:solidFill>
                  <a:srgbClr val="333333"/>
                </a:solidFill>
                <a:effectLst/>
                <a:highlight>
                  <a:srgbClr val="FFFFFF"/>
                </a:highlight>
                <a:latin typeface="inter-bold"/>
              </a:rPr>
              <a:t>Linear Probing</a:t>
            </a:r>
            <a:r>
              <a:rPr lang="en-US" b="0" i="0" dirty="0">
                <a:solidFill>
                  <a:srgbClr val="333333"/>
                </a:solidFill>
                <a:effectLst/>
                <a:highlight>
                  <a:srgbClr val="FFFFFF"/>
                </a:highlight>
                <a:latin typeface="inter-regular"/>
              </a:rPr>
              <a:t>.</a:t>
            </a:r>
            <a:endParaRPr lang="en-US" b="0" i="0" dirty="0">
              <a:solidFill>
                <a:srgbClr val="333333"/>
              </a:solidFill>
              <a:effectLst/>
              <a:highlight>
                <a:srgbClr val="FFFFFF"/>
              </a:highlight>
              <a:latin typeface="inter-regular"/>
            </a:endParaRPr>
          </a:p>
          <a:p>
            <a:pPr marL="0" indent="0" algn="just">
              <a:buNone/>
            </a:pPr>
            <a:endParaRPr lang="en-US" b="0" i="0" dirty="0">
              <a:solidFill>
                <a:srgbClr val="333333"/>
              </a:solidFill>
              <a:effectLst/>
              <a:highlight>
                <a:srgbClr val="FFFFFF"/>
              </a:highlight>
              <a:latin typeface="inter-regular"/>
            </a:endParaRPr>
          </a:p>
          <a:p>
            <a:pPr marL="0" indent="0" algn="just">
              <a:buNone/>
            </a:pPr>
            <a:endParaRPr lang="en-US" b="0" i="0" dirty="0">
              <a:solidFill>
                <a:srgbClr val="333333"/>
              </a:solidFill>
              <a:effectLst/>
              <a:highlight>
                <a:srgbClr val="FFFFFF"/>
              </a:highlight>
              <a:latin typeface="inter-regular"/>
            </a:endParaRPr>
          </a:p>
          <a:p>
            <a:endParaRPr lang="en-IN"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1"/>
          <a:stretch>
            <a:fillRect/>
          </a:stretch>
        </p:blipFill>
        <p:spPr>
          <a:xfrm>
            <a:off x="3184188" y="1866335"/>
            <a:ext cx="5410669" cy="2972058"/>
          </a:xfrm>
        </p:spPr>
      </p:pic>
      <p:sp>
        <p:nvSpPr>
          <p:cNvPr id="7" name="TextBox 6"/>
          <p:cNvSpPr txBox="1"/>
          <p:nvPr/>
        </p:nvSpPr>
        <p:spPr>
          <a:xfrm>
            <a:off x="698091" y="481384"/>
            <a:ext cx="10382864" cy="1200329"/>
          </a:xfrm>
          <a:prstGeom prst="rect">
            <a:avLst/>
          </a:prstGeom>
          <a:noFill/>
        </p:spPr>
        <p:txBody>
          <a:bodyPr wrap="square">
            <a:spAutoFit/>
          </a:bodyPr>
          <a:lstStyle/>
          <a:p>
            <a:pPr algn="just"/>
            <a:r>
              <a:rPr lang="en-US" sz="2400" b="1" i="0" dirty="0">
                <a:solidFill>
                  <a:srgbClr val="333333"/>
                </a:solidFill>
                <a:effectLst/>
                <a:highlight>
                  <a:srgbClr val="FFFFFF"/>
                </a:highlight>
              </a:rPr>
              <a:t>For example:</a:t>
            </a:r>
            <a:r>
              <a:rPr lang="en-US" sz="2400" b="0" i="0" dirty="0">
                <a:solidFill>
                  <a:srgbClr val="333333"/>
                </a:solidFill>
                <a:effectLst/>
                <a:highlight>
                  <a:srgbClr val="FFFFFF"/>
                </a:highlight>
              </a:rPr>
              <a:t> suppose R3 is a new address which needs to be inserted, the hash function generates address as 112 for R3. But the generated address is already full. So the system searches next available data bucket, 113 and assigns R3 to it</a:t>
            </a:r>
            <a:endParaRPr lang="en-US" sz="2400" b="0" i="0" dirty="0">
              <a:solidFill>
                <a:srgbClr val="333333"/>
              </a:solidFill>
              <a:effectLst/>
              <a:highlight>
                <a:srgbClr val="FFFFFF"/>
              </a:highlight>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a:t>2. Close Hashing</a:t>
            </a:r>
            <a:endParaRPr lang="en-US"/>
          </a:p>
          <a:p>
            <a:r>
              <a:rPr lang="en-US"/>
              <a:t>When buckets are full, then a new data bucket is allocated for the same hash result and is linked after the previous one. This mechanism is known as Overflow chaining.</a:t>
            </a:r>
            <a:endParaRPr lang="en-US"/>
          </a:p>
          <a:p>
            <a:r>
              <a:rPr lang="en-US"/>
              <a:t>For example: Suppose R3 is a new address which needs to be inserted into the table, the hash function generates address as 110 for it. But this bucket is full to store the new data. In this case, a new bucket is inserted at the end of 110 buckets and is linked to it.</a:t>
            </a:r>
            <a:endParaRPr lang="en-US"/>
          </a:p>
          <a:p>
            <a:pPr algn="dist">
              <a:lnSpc>
                <a:spcPct val="90000"/>
              </a:lnSpc>
            </a:pPr>
            <a:endParaRPr lang="en-US"/>
          </a:p>
        </p:txBody>
      </p:sp>
      <p:pic>
        <p:nvPicPr>
          <p:cNvPr id="5" name="Picture 4"/>
          <p:cNvPicPr>
            <a:picLocks noChangeAspect="1"/>
          </p:cNvPicPr>
          <p:nvPr/>
        </p:nvPicPr>
        <p:blipFill>
          <a:blip r:embed="rId1"/>
          <a:stretch>
            <a:fillRect/>
          </a:stretch>
        </p:blipFill>
        <p:spPr>
          <a:xfrm>
            <a:off x="2610080" y="3512960"/>
            <a:ext cx="6996035" cy="2878008"/>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Dynamic Hashing</a:t>
            </a:r>
            <a:endParaRPr lang="en-IN" dirty="0"/>
          </a:p>
        </p:txBody>
      </p:sp>
      <p:sp>
        <p:nvSpPr>
          <p:cNvPr id="3" name="Content Placeholder 2"/>
          <p:cNvSpPr>
            <a:spLocks noGrp="1"/>
          </p:cNvSpPr>
          <p:nvPr>
            <p:ph idx="1"/>
          </p:nvPr>
        </p:nvSpPr>
        <p:spPr/>
        <p:txBody>
          <a:bodyPr>
            <a:normAutofit fontScale="60000"/>
          </a:bodyPr>
          <a:lstStyle/>
          <a:p>
            <a:pPr algn="just">
              <a:buFont typeface="Arial" panose="020B0604020202020204" pitchFamily="34" charset="0"/>
              <a:buChar char="•"/>
            </a:pPr>
            <a:r>
              <a:rPr lang="en-US" b="0" i="0" dirty="0">
                <a:solidFill>
                  <a:srgbClr val="000000"/>
                </a:solidFill>
                <a:effectLst/>
                <a:highlight>
                  <a:srgbClr val="FFFFFF"/>
                </a:highlight>
                <a:latin typeface="inter-regular"/>
              </a:rPr>
              <a:t>The dynamic hashing method is used to overcome the </a:t>
            </a:r>
            <a:endParaRPr lang="en-US" b="0" i="0" dirty="0">
              <a:solidFill>
                <a:srgbClr val="000000"/>
              </a:solidFill>
              <a:effectLst/>
              <a:highlight>
                <a:srgbClr val="FFFFFF"/>
              </a:highlight>
              <a:latin typeface="inter-regular"/>
            </a:endParaRPr>
          </a:p>
          <a:p>
            <a:pPr algn="just">
              <a:buFont typeface="Arial" panose="020B0604020202020204" pitchFamily="34" charset="0"/>
              <a:buChar char="•"/>
            </a:pPr>
            <a:r>
              <a:rPr lang="en-US" b="0" i="0" dirty="0">
                <a:solidFill>
                  <a:srgbClr val="000000"/>
                </a:solidFill>
                <a:effectLst/>
                <a:highlight>
                  <a:srgbClr val="FFFFFF"/>
                </a:highlight>
                <a:latin typeface="inter-regular"/>
              </a:rPr>
              <a:t>problems of static hashing like bucket overflow.</a:t>
            </a:r>
            <a:endParaRPr lang="en-US" b="0" i="0" dirty="0">
              <a:solidFill>
                <a:srgbClr val="000000"/>
              </a:solidFill>
              <a:effectLst/>
              <a:highlight>
                <a:srgbClr val="FFFFFF"/>
              </a:highlight>
              <a:latin typeface="inter-regular"/>
            </a:endParaRPr>
          </a:p>
          <a:p>
            <a:pPr algn="just">
              <a:buFont typeface="Arial" panose="020B0604020202020204" pitchFamily="34" charset="0"/>
              <a:buChar char="•"/>
            </a:pPr>
            <a:endParaRPr lang="en-US" b="0" i="0" dirty="0">
              <a:solidFill>
                <a:srgbClr val="000000"/>
              </a:solidFill>
              <a:effectLst/>
              <a:highlight>
                <a:srgbClr val="FFFFFF"/>
              </a:highlight>
              <a:latin typeface="inter-regular"/>
            </a:endParaRPr>
          </a:p>
          <a:p>
            <a:pPr algn="just">
              <a:buFont typeface="Arial" panose="020B0604020202020204" pitchFamily="34" charset="0"/>
              <a:buChar char="•"/>
            </a:pPr>
            <a:r>
              <a:rPr lang="en-US" b="0" i="0" dirty="0">
                <a:solidFill>
                  <a:srgbClr val="000000"/>
                </a:solidFill>
                <a:effectLst/>
                <a:highlight>
                  <a:srgbClr val="FFFFFF"/>
                </a:highlight>
                <a:latin typeface="inter-regular"/>
              </a:rPr>
              <a:t>In this method, data buckets grow or shrink as the </a:t>
            </a:r>
            <a:endParaRPr lang="en-US" b="0" i="0" dirty="0">
              <a:solidFill>
                <a:srgbClr val="000000"/>
              </a:solidFill>
              <a:effectLst/>
              <a:highlight>
                <a:srgbClr val="FFFFFF"/>
              </a:highlight>
              <a:latin typeface="inter-regular"/>
            </a:endParaRPr>
          </a:p>
          <a:p>
            <a:pPr algn="just">
              <a:buFont typeface="Arial" panose="020B0604020202020204" pitchFamily="34" charset="0"/>
              <a:buChar char="•"/>
            </a:pPr>
            <a:r>
              <a:rPr lang="en-US" b="0" i="0" dirty="0">
                <a:solidFill>
                  <a:srgbClr val="000000"/>
                </a:solidFill>
                <a:effectLst/>
                <a:highlight>
                  <a:srgbClr val="FFFFFF"/>
                </a:highlight>
                <a:latin typeface="inter-regular"/>
              </a:rPr>
              <a:t>records increases or decreases. This method is also </a:t>
            </a:r>
            <a:endParaRPr lang="en-US" b="0" i="0" dirty="0">
              <a:solidFill>
                <a:srgbClr val="000000"/>
              </a:solidFill>
              <a:effectLst/>
              <a:highlight>
                <a:srgbClr val="FFFFFF"/>
              </a:highlight>
              <a:latin typeface="inter-regular"/>
            </a:endParaRPr>
          </a:p>
          <a:p>
            <a:pPr algn="just">
              <a:buFont typeface="Arial" panose="020B0604020202020204" pitchFamily="34" charset="0"/>
              <a:buChar char="•"/>
            </a:pPr>
            <a:r>
              <a:rPr lang="en-US" b="0" i="0" dirty="0">
                <a:solidFill>
                  <a:srgbClr val="000000"/>
                </a:solidFill>
                <a:effectLst/>
                <a:highlight>
                  <a:srgbClr val="FFFFFF"/>
                </a:highlight>
                <a:latin typeface="inter-regular"/>
              </a:rPr>
              <a:t>known as Extendable hashing method.</a:t>
            </a:r>
            <a:endParaRPr lang="en-US" b="0" i="0" dirty="0">
              <a:solidFill>
                <a:srgbClr val="000000"/>
              </a:solidFill>
              <a:effectLst/>
              <a:highlight>
                <a:srgbClr val="FFFFFF"/>
              </a:highlight>
              <a:latin typeface="inter-regular"/>
            </a:endParaRPr>
          </a:p>
          <a:p>
            <a:pPr algn="just">
              <a:buFont typeface="Arial" panose="020B0604020202020204" pitchFamily="34" charset="0"/>
              <a:buChar char="•"/>
            </a:pPr>
            <a:endParaRPr lang="en-US" b="0" i="0" dirty="0">
              <a:solidFill>
                <a:srgbClr val="000000"/>
              </a:solidFill>
              <a:effectLst/>
              <a:highlight>
                <a:srgbClr val="FFFFFF"/>
              </a:highlight>
              <a:latin typeface="inter-regular"/>
            </a:endParaRPr>
          </a:p>
          <a:p>
            <a:pPr algn="just">
              <a:buFont typeface="Arial" panose="020B0604020202020204" pitchFamily="34" charset="0"/>
              <a:buChar char="•"/>
            </a:pPr>
            <a:r>
              <a:rPr lang="en-US" b="0" i="0" dirty="0">
                <a:solidFill>
                  <a:srgbClr val="000000"/>
                </a:solidFill>
                <a:effectLst/>
                <a:highlight>
                  <a:srgbClr val="FFFFFF"/>
                </a:highlight>
                <a:latin typeface="inter-regular"/>
              </a:rPr>
              <a:t>This method makes hashing dynamic, i.e., it allows </a:t>
            </a:r>
            <a:endParaRPr lang="en-US" b="0" i="0" dirty="0">
              <a:solidFill>
                <a:srgbClr val="000000"/>
              </a:solidFill>
              <a:effectLst/>
              <a:highlight>
                <a:srgbClr val="FFFFFF"/>
              </a:highlight>
              <a:latin typeface="inter-regular"/>
            </a:endParaRPr>
          </a:p>
          <a:p>
            <a:pPr algn="just">
              <a:buFont typeface="Arial" panose="020B0604020202020204" pitchFamily="34" charset="0"/>
              <a:buChar char="•"/>
            </a:pPr>
            <a:r>
              <a:rPr lang="en-US" b="0" i="0" dirty="0">
                <a:solidFill>
                  <a:srgbClr val="000000"/>
                </a:solidFill>
                <a:effectLst/>
                <a:highlight>
                  <a:srgbClr val="FFFFFF"/>
                </a:highlight>
                <a:latin typeface="inter-regular"/>
              </a:rPr>
              <a:t>insertion or deletion without resulting in poor </a:t>
            </a:r>
            <a:endParaRPr lang="en-US" b="0" i="0" dirty="0">
              <a:solidFill>
                <a:srgbClr val="000000"/>
              </a:solidFill>
              <a:effectLst/>
              <a:highlight>
                <a:srgbClr val="FFFFFF"/>
              </a:highlight>
              <a:latin typeface="inter-regular"/>
            </a:endParaRPr>
          </a:p>
          <a:p>
            <a:pPr algn="just">
              <a:buFont typeface="Arial" panose="020B0604020202020204" pitchFamily="34" charset="0"/>
              <a:buChar char="•"/>
            </a:pPr>
            <a:endParaRPr lang="en-US" b="0" i="0" dirty="0">
              <a:solidFill>
                <a:srgbClr val="000000"/>
              </a:solidFill>
              <a:effectLst/>
              <a:highlight>
                <a:srgbClr val="FFFFFF"/>
              </a:highlight>
              <a:latin typeface="inter-regular"/>
            </a:endParaRPr>
          </a:p>
          <a:p>
            <a:pPr algn="just">
              <a:buFont typeface="Arial" panose="020B0604020202020204" pitchFamily="34" charset="0"/>
              <a:buChar char="•"/>
            </a:pPr>
            <a:r>
              <a:rPr lang="en-US" b="0" i="0" dirty="0">
                <a:solidFill>
                  <a:srgbClr val="000000"/>
                </a:solidFill>
                <a:effectLst/>
                <a:highlight>
                  <a:srgbClr val="FFFFFF"/>
                </a:highlight>
                <a:latin typeface="inter-regular"/>
              </a:rPr>
              <a:t>performance.</a:t>
            </a:r>
            <a:endParaRPr lang="en-US" b="0" i="0" dirty="0">
              <a:solidFill>
                <a:srgbClr val="000000"/>
              </a:solidFill>
              <a:effectLst/>
              <a:highlight>
                <a:srgbClr val="FFFFFF"/>
              </a:highlight>
              <a:latin typeface="inter-regular"/>
            </a:endParaRPr>
          </a:p>
          <a:p>
            <a:endParaRPr lang="en-IN"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01445"/>
            <a:ext cx="10515600" cy="5675518"/>
          </a:xfrm>
        </p:spPr>
        <p:txBody>
          <a:bodyPr>
            <a:normAutofit fontScale="72500"/>
          </a:bodyPr>
          <a:lstStyle/>
          <a:p>
            <a:pPr marL="0" indent="0" algn="just">
              <a:buNone/>
            </a:pPr>
            <a:r>
              <a:rPr lang="en-US" b="1" dirty="0">
                <a:highlight>
                  <a:srgbClr val="FFFFFF"/>
                </a:highlight>
                <a:latin typeface="erdana"/>
              </a:rPr>
              <a:t>T</a:t>
            </a:r>
            <a:r>
              <a:rPr lang="en-US" b="1" i="0" dirty="0">
                <a:effectLst/>
                <a:highlight>
                  <a:srgbClr val="FFFFFF"/>
                </a:highlight>
                <a:latin typeface="erdana"/>
              </a:rPr>
              <a:t>o search a key:</a:t>
            </a:r>
            <a:endParaRPr lang="en-US" b="1" i="0" dirty="0">
              <a:effectLst/>
              <a:highlight>
                <a:srgbClr val="FFFFFF"/>
              </a:highlight>
              <a:latin typeface="erdana"/>
            </a:endParaRPr>
          </a:p>
          <a:p>
            <a:pPr algn="just">
              <a:buFont typeface="Arial" panose="020B0604020202020204" pitchFamily="34" charset="0"/>
              <a:buChar char="•"/>
            </a:pPr>
            <a:r>
              <a:rPr lang="en-US" b="0" i="0" dirty="0">
                <a:solidFill>
                  <a:srgbClr val="000000"/>
                </a:solidFill>
                <a:effectLst/>
                <a:highlight>
                  <a:srgbClr val="FFFFFF"/>
                </a:highlight>
                <a:latin typeface="inter-regular"/>
              </a:rPr>
              <a:t>First, calculate the hash address of the key.</a:t>
            </a:r>
            <a:endParaRPr lang="en-US" b="0" i="0" dirty="0">
              <a:solidFill>
                <a:srgbClr val="000000"/>
              </a:solidFill>
              <a:effectLst/>
              <a:highlight>
                <a:srgbClr val="FFFFFF"/>
              </a:highlight>
              <a:latin typeface="inter-regular"/>
            </a:endParaRPr>
          </a:p>
          <a:p>
            <a:pPr algn="just">
              <a:buFont typeface="Arial" panose="020B0604020202020204" pitchFamily="34" charset="0"/>
              <a:buChar char="•"/>
            </a:pPr>
            <a:r>
              <a:rPr lang="en-US" b="0" i="0" dirty="0">
                <a:solidFill>
                  <a:srgbClr val="000000"/>
                </a:solidFill>
                <a:effectLst/>
                <a:highlight>
                  <a:srgbClr val="FFFFFF"/>
                </a:highlight>
                <a:latin typeface="inter-regular"/>
              </a:rPr>
              <a:t>Check how many bits are used in the directory, and these bits are called as </a:t>
            </a:r>
            <a:r>
              <a:rPr lang="en-US" b="0" i="0" dirty="0" err="1">
                <a:solidFill>
                  <a:srgbClr val="000000"/>
                </a:solidFill>
                <a:effectLst/>
                <a:highlight>
                  <a:srgbClr val="FFFFFF"/>
                </a:highlight>
                <a:latin typeface="inter-regular"/>
              </a:rPr>
              <a:t>i</a:t>
            </a:r>
            <a:r>
              <a:rPr lang="en-US" b="0" i="0" dirty="0">
                <a:solidFill>
                  <a:srgbClr val="000000"/>
                </a:solidFill>
                <a:effectLst/>
                <a:highlight>
                  <a:srgbClr val="FFFFFF"/>
                </a:highlight>
                <a:latin typeface="inter-regular"/>
              </a:rPr>
              <a:t>.</a:t>
            </a:r>
            <a:endParaRPr lang="en-US" b="0" i="0" dirty="0">
              <a:solidFill>
                <a:srgbClr val="000000"/>
              </a:solidFill>
              <a:effectLst/>
              <a:highlight>
                <a:srgbClr val="FFFFFF"/>
              </a:highlight>
              <a:latin typeface="inter-regular"/>
            </a:endParaRPr>
          </a:p>
          <a:p>
            <a:pPr algn="just">
              <a:buFont typeface="Arial" panose="020B0604020202020204" pitchFamily="34" charset="0"/>
              <a:buChar char="•"/>
            </a:pPr>
            <a:r>
              <a:rPr lang="en-US" b="0" i="0" dirty="0">
                <a:solidFill>
                  <a:srgbClr val="000000"/>
                </a:solidFill>
                <a:effectLst/>
                <a:highlight>
                  <a:srgbClr val="FFFFFF"/>
                </a:highlight>
                <a:latin typeface="inter-regular"/>
              </a:rPr>
              <a:t>Take the least significant </a:t>
            </a:r>
            <a:r>
              <a:rPr lang="en-US" b="0" i="0" dirty="0" err="1">
                <a:solidFill>
                  <a:srgbClr val="000000"/>
                </a:solidFill>
                <a:effectLst/>
                <a:highlight>
                  <a:srgbClr val="FFFFFF"/>
                </a:highlight>
                <a:latin typeface="inter-regular"/>
              </a:rPr>
              <a:t>i</a:t>
            </a:r>
            <a:r>
              <a:rPr lang="en-US" b="0" i="0" dirty="0">
                <a:solidFill>
                  <a:srgbClr val="000000"/>
                </a:solidFill>
                <a:effectLst/>
                <a:highlight>
                  <a:srgbClr val="FFFFFF"/>
                </a:highlight>
                <a:latin typeface="inter-regular"/>
              </a:rPr>
              <a:t> bits of the hash address. This gives an index of the directory.</a:t>
            </a:r>
            <a:endParaRPr lang="en-US" b="0" i="0" dirty="0">
              <a:solidFill>
                <a:srgbClr val="000000"/>
              </a:solidFill>
              <a:effectLst/>
              <a:highlight>
                <a:srgbClr val="FFFFFF"/>
              </a:highlight>
              <a:latin typeface="inter-regular"/>
            </a:endParaRPr>
          </a:p>
          <a:p>
            <a:pPr algn="just">
              <a:buFont typeface="Arial" panose="020B0604020202020204" pitchFamily="34" charset="0"/>
              <a:buChar char="•"/>
            </a:pPr>
            <a:r>
              <a:rPr lang="en-US" b="0" i="0" dirty="0">
                <a:solidFill>
                  <a:srgbClr val="000000"/>
                </a:solidFill>
                <a:effectLst/>
                <a:highlight>
                  <a:srgbClr val="FFFFFF"/>
                </a:highlight>
                <a:latin typeface="inter-regular"/>
              </a:rPr>
              <a:t>Now using the index, go to the directory and find bucket address where the </a:t>
            </a:r>
            <a:endParaRPr lang="en-US" b="0" i="0" dirty="0">
              <a:solidFill>
                <a:srgbClr val="000000"/>
              </a:solidFill>
              <a:effectLst/>
              <a:highlight>
                <a:srgbClr val="FFFFFF"/>
              </a:highlight>
              <a:latin typeface="inter-regular"/>
            </a:endParaRPr>
          </a:p>
          <a:p>
            <a:pPr algn="just">
              <a:buFont typeface="Arial" panose="020B0604020202020204" pitchFamily="34" charset="0"/>
              <a:buChar char="•"/>
            </a:pPr>
            <a:r>
              <a:rPr lang="en-US" b="0" i="0" dirty="0">
                <a:solidFill>
                  <a:srgbClr val="000000"/>
                </a:solidFill>
                <a:effectLst/>
                <a:highlight>
                  <a:srgbClr val="FFFFFF"/>
                </a:highlight>
                <a:latin typeface="inter-regular"/>
              </a:rPr>
              <a:t>record might be.</a:t>
            </a:r>
            <a:endParaRPr lang="en-US" b="0" i="0" dirty="0">
              <a:solidFill>
                <a:srgbClr val="000000"/>
              </a:solidFill>
              <a:effectLst/>
              <a:highlight>
                <a:srgbClr val="FFFFFF"/>
              </a:highlight>
              <a:latin typeface="inter-regular"/>
            </a:endParaRPr>
          </a:p>
          <a:p>
            <a:pPr marL="0" indent="0" algn="just">
              <a:buNone/>
            </a:pPr>
            <a:r>
              <a:rPr lang="en-US" b="1" i="0" dirty="0">
                <a:effectLst/>
                <a:highlight>
                  <a:srgbClr val="FFFFFF"/>
                </a:highlight>
                <a:latin typeface="erdana"/>
              </a:rPr>
              <a:t>To insert a new record</a:t>
            </a:r>
            <a:endParaRPr lang="en-US" b="1" i="0" dirty="0">
              <a:effectLst/>
              <a:highlight>
                <a:srgbClr val="FFFFFF"/>
              </a:highlight>
              <a:latin typeface="erdana"/>
            </a:endParaRPr>
          </a:p>
          <a:p>
            <a:pPr algn="just">
              <a:buFont typeface="Arial" panose="020B0604020202020204" pitchFamily="34" charset="0"/>
              <a:buChar char="•"/>
            </a:pPr>
            <a:endParaRPr lang="en-US" b="0" i="0" dirty="0">
              <a:solidFill>
                <a:srgbClr val="000000"/>
              </a:solidFill>
              <a:effectLst/>
              <a:highlight>
                <a:srgbClr val="FFFFFF"/>
              </a:highlight>
              <a:latin typeface="inter-regular"/>
            </a:endParaRPr>
          </a:p>
          <a:p>
            <a:pPr algn="just">
              <a:buFont typeface="Arial" panose="020B0604020202020204" pitchFamily="34" charset="0"/>
              <a:buChar char="•"/>
            </a:pPr>
            <a:endParaRPr lang="en-US" b="0" i="0" dirty="0">
              <a:solidFill>
                <a:srgbClr val="000000"/>
              </a:solidFill>
              <a:effectLst/>
              <a:highlight>
                <a:srgbClr val="FFFFFF"/>
              </a:highlight>
              <a:latin typeface="inter-regular"/>
            </a:endParaRPr>
          </a:p>
          <a:p>
            <a:pPr algn="just">
              <a:buFont typeface="Arial" panose="020B0604020202020204" pitchFamily="34" charset="0"/>
              <a:buChar char="•"/>
            </a:pPr>
            <a:r>
              <a:rPr lang="en-US" b="0" i="0" dirty="0">
                <a:solidFill>
                  <a:srgbClr val="000000"/>
                </a:solidFill>
                <a:effectLst/>
                <a:highlight>
                  <a:srgbClr val="FFFFFF"/>
                </a:highlight>
                <a:latin typeface="inter-regular"/>
              </a:rPr>
              <a:t>Firstly, you have to follow the same procedure for retrieval, ending up in </a:t>
            </a:r>
            <a:endParaRPr lang="en-US" b="0" i="0" dirty="0">
              <a:solidFill>
                <a:srgbClr val="000000"/>
              </a:solidFill>
              <a:effectLst/>
              <a:highlight>
                <a:srgbClr val="FFFFFF"/>
              </a:highlight>
              <a:latin typeface="inter-regular"/>
            </a:endParaRPr>
          </a:p>
          <a:p>
            <a:pPr algn="just">
              <a:buFont typeface="Arial" panose="020B0604020202020204" pitchFamily="34" charset="0"/>
              <a:buChar char="•"/>
            </a:pPr>
            <a:r>
              <a:rPr lang="en-US" b="0" i="0" dirty="0">
                <a:solidFill>
                  <a:srgbClr val="000000"/>
                </a:solidFill>
                <a:effectLst/>
                <a:highlight>
                  <a:srgbClr val="FFFFFF"/>
                </a:highlight>
                <a:latin typeface="inter-regular"/>
              </a:rPr>
              <a:t>some bucket.</a:t>
            </a:r>
            <a:endParaRPr lang="en-US" b="0" i="0" dirty="0">
              <a:solidFill>
                <a:srgbClr val="000000"/>
              </a:solidFill>
              <a:effectLst/>
              <a:highlight>
                <a:srgbClr val="FFFFFF"/>
              </a:highlight>
              <a:latin typeface="inter-regular"/>
            </a:endParaRPr>
          </a:p>
          <a:p>
            <a:pPr algn="just">
              <a:buFont typeface="Arial" panose="020B0604020202020204" pitchFamily="34" charset="0"/>
              <a:buChar char="•"/>
            </a:pPr>
            <a:r>
              <a:rPr lang="en-US" b="0" i="0" dirty="0">
                <a:solidFill>
                  <a:srgbClr val="000000"/>
                </a:solidFill>
                <a:effectLst/>
                <a:highlight>
                  <a:srgbClr val="FFFFFF"/>
                </a:highlight>
                <a:latin typeface="inter-regular"/>
              </a:rPr>
              <a:t>If there is still space in that bucket, then place the record in it.</a:t>
            </a:r>
            <a:endParaRPr lang="en-US" b="0" i="0" dirty="0">
              <a:solidFill>
                <a:srgbClr val="000000"/>
              </a:solidFill>
              <a:effectLst/>
              <a:highlight>
                <a:srgbClr val="FFFFFF"/>
              </a:highlight>
              <a:latin typeface="inter-regular"/>
            </a:endParaRPr>
          </a:p>
          <a:p>
            <a:pPr algn="just">
              <a:buFont typeface="Arial" panose="020B0604020202020204" pitchFamily="34" charset="0"/>
              <a:buChar char="•"/>
            </a:pPr>
            <a:r>
              <a:rPr lang="en-US" b="0" i="0" dirty="0">
                <a:solidFill>
                  <a:srgbClr val="000000"/>
                </a:solidFill>
                <a:effectLst/>
                <a:highlight>
                  <a:srgbClr val="FFFFFF"/>
                </a:highlight>
                <a:latin typeface="inter-regular"/>
              </a:rPr>
              <a:t>If the bucket is full, then we will split the bucket and redistribute the records</a:t>
            </a:r>
            <a:endParaRPr lang="en-US" b="0" i="0" dirty="0">
              <a:solidFill>
                <a:srgbClr val="000000"/>
              </a:solidFill>
              <a:effectLst/>
              <a:highlight>
                <a:srgbClr val="FFFFFF"/>
              </a:highlight>
              <a:latin typeface="inter-regular"/>
            </a:endParaRPr>
          </a:p>
          <a:p>
            <a:pPr algn="just">
              <a:buFont typeface="Arial" panose="020B0604020202020204" pitchFamily="34" charset="0"/>
              <a:buChar char="•"/>
            </a:pPr>
            <a:endParaRPr lang="en-US" b="0" i="0" dirty="0">
              <a:solidFill>
                <a:srgbClr val="000000"/>
              </a:solidFill>
              <a:effectLst/>
              <a:highlight>
                <a:srgbClr val="FFFFFF"/>
              </a:highlight>
              <a:latin typeface="inter-regular"/>
            </a:endParaRPr>
          </a:p>
          <a:p>
            <a:endParaRPr lang="en-IN"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14632"/>
            <a:ext cx="10515600" cy="5862331"/>
          </a:xfrm>
        </p:spPr>
        <p:txBody>
          <a:bodyPr/>
          <a:lstStyle/>
          <a:p>
            <a:pPr marL="0" indent="0" algn="just">
              <a:buNone/>
            </a:pPr>
            <a:r>
              <a:rPr lang="en-US" b="0" i="0" dirty="0">
                <a:effectLst/>
                <a:highlight>
                  <a:srgbClr val="FFFFFF"/>
                </a:highlight>
                <a:latin typeface="erdana"/>
              </a:rPr>
              <a:t>For example:</a:t>
            </a:r>
            <a:endParaRPr lang="en-US" b="0" i="0" dirty="0">
              <a:effectLst/>
              <a:highlight>
                <a:srgbClr val="FFFFFF"/>
              </a:highlight>
              <a:latin typeface="erdana"/>
            </a:endParaRPr>
          </a:p>
          <a:p>
            <a:pPr algn="just"/>
            <a:r>
              <a:rPr lang="en-US" b="0" i="0" dirty="0">
                <a:solidFill>
                  <a:srgbClr val="333333"/>
                </a:solidFill>
                <a:effectLst/>
                <a:highlight>
                  <a:srgbClr val="FFFFFF"/>
                </a:highlight>
                <a:latin typeface="inter-regular"/>
              </a:rPr>
              <a:t>Consider the following grouping of keys into buckets, </a:t>
            </a:r>
            <a:endParaRPr lang="en-US" b="0" i="0" dirty="0">
              <a:solidFill>
                <a:srgbClr val="333333"/>
              </a:solidFill>
              <a:effectLst/>
              <a:highlight>
                <a:srgbClr val="FFFFFF"/>
              </a:highlight>
              <a:latin typeface="inter-regular"/>
            </a:endParaRPr>
          </a:p>
          <a:p>
            <a:pPr algn="just"/>
            <a:r>
              <a:rPr lang="en-US" b="0" i="0" dirty="0">
                <a:solidFill>
                  <a:srgbClr val="333333"/>
                </a:solidFill>
                <a:effectLst/>
                <a:highlight>
                  <a:srgbClr val="FFFFFF"/>
                </a:highlight>
                <a:latin typeface="inter-regular"/>
              </a:rPr>
              <a:t>depending on the prefix of their hash address</a:t>
            </a:r>
            <a:endParaRPr lang="en-US" b="0" i="0" dirty="0">
              <a:solidFill>
                <a:srgbClr val="333333"/>
              </a:solidFill>
              <a:effectLst/>
              <a:highlight>
                <a:srgbClr val="FFFFFF"/>
              </a:highlight>
              <a:latin typeface="inter-regular"/>
            </a:endParaRPr>
          </a:p>
          <a:p>
            <a:endParaRPr lang="en-IN" dirty="0"/>
          </a:p>
        </p:txBody>
      </p:sp>
      <p:pic>
        <p:nvPicPr>
          <p:cNvPr id="5" name="Picture 4"/>
          <p:cNvPicPr>
            <a:picLocks noChangeAspect="1"/>
          </p:cNvPicPr>
          <p:nvPr/>
        </p:nvPicPr>
        <p:blipFill>
          <a:blip r:embed="rId1"/>
          <a:stretch>
            <a:fillRect/>
          </a:stretch>
        </p:blipFill>
        <p:spPr>
          <a:xfrm>
            <a:off x="2989006" y="2487848"/>
            <a:ext cx="6046839" cy="2831404"/>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42452"/>
            <a:ext cx="10515600" cy="5734511"/>
          </a:xfrm>
        </p:spPr>
        <p:txBody>
          <a:bodyPr/>
          <a:lstStyle/>
          <a:p>
            <a:r>
              <a:rPr lang="en-US" b="0" i="0" dirty="0">
                <a:solidFill>
                  <a:srgbClr val="333333"/>
                </a:solidFill>
                <a:effectLst/>
                <a:highlight>
                  <a:srgbClr val="FFFFFF"/>
                </a:highlight>
                <a:latin typeface="inter-regular"/>
              </a:rPr>
              <a:t>The last two bits of 2 and 4 are 00. So it will go into </a:t>
            </a:r>
            <a:endParaRPr lang="en-US" b="0" i="0" dirty="0">
              <a:solidFill>
                <a:srgbClr val="333333"/>
              </a:solidFill>
              <a:effectLst/>
              <a:highlight>
                <a:srgbClr val="FFFFFF"/>
              </a:highlight>
              <a:latin typeface="inter-regular"/>
            </a:endParaRPr>
          </a:p>
          <a:p>
            <a:r>
              <a:rPr lang="en-US" b="0" i="0" dirty="0">
                <a:solidFill>
                  <a:srgbClr val="333333"/>
                </a:solidFill>
                <a:effectLst/>
                <a:highlight>
                  <a:srgbClr val="FFFFFF"/>
                </a:highlight>
                <a:latin typeface="inter-regular"/>
              </a:rPr>
              <a:t>bucket B0. The last two bits of 5 and 6 are 01, so it </a:t>
            </a:r>
            <a:endParaRPr lang="en-US" b="0" i="0" dirty="0">
              <a:solidFill>
                <a:srgbClr val="333333"/>
              </a:solidFill>
              <a:effectLst/>
              <a:highlight>
                <a:srgbClr val="FFFFFF"/>
              </a:highlight>
              <a:latin typeface="inter-regular"/>
            </a:endParaRPr>
          </a:p>
          <a:p>
            <a:r>
              <a:rPr lang="en-US" b="0" i="0" dirty="0">
                <a:solidFill>
                  <a:srgbClr val="333333"/>
                </a:solidFill>
                <a:effectLst/>
                <a:highlight>
                  <a:srgbClr val="FFFFFF"/>
                </a:highlight>
                <a:latin typeface="inter-regular"/>
              </a:rPr>
              <a:t>will go into bucket B1. The last two bits of 1 and 3 are </a:t>
            </a:r>
            <a:endParaRPr lang="en-US" b="0" i="0" dirty="0">
              <a:solidFill>
                <a:srgbClr val="333333"/>
              </a:solidFill>
              <a:effectLst/>
              <a:highlight>
                <a:srgbClr val="FFFFFF"/>
              </a:highlight>
              <a:latin typeface="inter-regular"/>
            </a:endParaRPr>
          </a:p>
          <a:p>
            <a:r>
              <a:rPr lang="en-US" b="0" i="0" dirty="0">
                <a:solidFill>
                  <a:srgbClr val="333333"/>
                </a:solidFill>
                <a:effectLst/>
                <a:highlight>
                  <a:srgbClr val="FFFFFF"/>
                </a:highlight>
                <a:latin typeface="inter-regular"/>
              </a:rPr>
              <a:t>10, so it will go into bucket B2. The last two bits of 7 </a:t>
            </a:r>
            <a:endParaRPr lang="en-US" b="0" i="0" dirty="0">
              <a:solidFill>
                <a:srgbClr val="333333"/>
              </a:solidFill>
              <a:effectLst/>
              <a:highlight>
                <a:srgbClr val="FFFFFF"/>
              </a:highlight>
              <a:latin typeface="inter-regular"/>
            </a:endParaRPr>
          </a:p>
          <a:p>
            <a:r>
              <a:rPr lang="en-US" b="0" i="0" dirty="0">
                <a:solidFill>
                  <a:srgbClr val="333333"/>
                </a:solidFill>
                <a:effectLst/>
                <a:highlight>
                  <a:srgbClr val="FFFFFF"/>
                </a:highlight>
                <a:latin typeface="inter-regular"/>
              </a:rPr>
              <a:t>are 11, so it will go into B3.</a:t>
            </a:r>
            <a:endParaRPr lang="en-US" b="0" i="0" dirty="0">
              <a:solidFill>
                <a:srgbClr val="333333"/>
              </a:solidFill>
              <a:effectLst/>
              <a:highlight>
                <a:srgbClr val="FFFFFF"/>
              </a:highlight>
              <a:latin typeface="inter-regular"/>
            </a:endParaRPr>
          </a:p>
          <a:p>
            <a:endParaRPr lang="en-IN" dirty="0"/>
          </a:p>
        </p:txBody>
      </p:sp>
      <p:pic>
        <p:nvPicPr>
          <p:cNvPr id="5" name="Picture 4"/>
          <p:cNvPicPr>
            <a:picLocks noChangeAspect="1"/>
          </p:cNvPicPr>
          <p:nvPr/>
        </p:nvPicPr>
        <p:blipFill>
          <a:blip r:embed="rId1"/>
          <a:stretch>
            <a:fillRect/>
          </a:stretch>
        </p:blipFill>
        <p:spPr>
          <a:xfrm>
            <a:off x="4329061" y="3380844"/>
            <a:ext cx="6597445" cy="2796782"/>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81781"/>
            <a:ext cx="10515600" cy="5695182"/>
          </a:xfrm>
        </p:spPr>
        <p:txBody>
          <a:bodyPr>
            <a:normAutofit fontScale="60000"/>
          </a:bodyPr>
          <a:lstStyle/>
          <a:p>
            <a:pPr marL="0" indent="0" algn="just">
              <a:buNone/>
            </a:pPr>
            <a:r>
              <a:rPr lang="en-US" b="0" i="0" dirty="0">
                <a:effectLst/>
                <a:highlight>
                  <a:srgbClr val="FFFFFF"/>
                </a:highlight>
                <a:latin typeface="erdana"/>
              </a:rPr>
              <a:t>Insert key 9 with hash address 10001 into the above structure:</a:t>
            </a:r>
            <a:endParaRPr lang="en-US" b="0" i="0" dirty="0">
              <a:effectLst/>
              <a:highlight>
                <a:srgbClr val="FFFFFF"/>
              </a:highlight>
              <a:latin typeface="erdana"/>
            </a:endParaRPr>
          </a:p>
          <a:p>
            <a:pPr algn="just">
              <a:buFont typeface="Arial" panose="020B0604020202020204" pitchFamily="34" charset="0"/>
              <a:buChar char="•"/>
            </a:pPr>
            <a:r>
              <a:rPr lang="en-US" b="0" i="0" dirty="0">
                <a:solidFill>
                  <a:srgbClr val="000000"/>
                </a:solidFill>
                <a:effectLst/>
                <a:highlight>
                  <a:srgbClr val="FFFFFF"/>
                </a:highlight>
                <a:latin typeface="inter-regular"/>
              </a:rPr>
              <a:t>Since key 9 has hash address 10001, it must go into the first bucket. But bucket B1 is full, </a:t>
            </a:r>
            <a:endParaRPr lang="en-US" b="0" i="0" dirty="0">
              <a:solidFill>
                <a:srgbClr val="000000"/>
              </a:solidFill>
              <a:effectLst/>
              <a:highlight>
                <a:srgbClr val="FFFFFF"/>
              </a:highlight>
              <a:latin typeface="inter-regular"/>
            </a:endParaRPr>
          </a:p>
          <a:p>
            <a:pPr algn="just">
              <a:buFont typeface="Arial" panose="020B0604020202020204" pitchFamily="34" charset="0"/>
              <a:buChar char="•"/>
            </a:pPr>
            <a:r>
              <a:rPr lang="en-US" b="0" i="0" dirty="0">
                <a:solidFill>
                  <a:srgbClr val="000000"/>
                </a:solidFill>
                <a:effectLst/>
                <a:highlight>
                  <a:srgbClr val="FFFFFF"/>
                </a:highlight>
                <a:latin typeface="inter-regular"/>
              </a:rPr>
              <a:t>so it will get split.</a:t>
            </a:r>
            <a:endParaRPr lang="en-US" b="0" i="0" dirty="0">
              <a:solidFill>
                <a:srgbClr val="000000"/>
              </a:solidFill>
              <a:effectLst/>
              <a:highlight>
                <a:srgbClr val="FFFFFF"/>
              </a:highlight>
              <a:latin typeface="inter-regular"/>
            </a:endParaRPr>
          </a:p>
          <a:p>
            <a:pPr algn="just">
              <a:buFont typeface="Arial" panose="020B0604020202020204" pitchFamily="34" charset="0"/>
              <a:buChar char="•"/>
            </a:pPr>
            <a:r>
              <a:rPr lang="en-US" b="0" i="0" dirty="0">
                <a:solidFill>
                  <a:srgbClr val="000000"/>
                </a:solidFill>
                <a:effectLst/>
                <a:highlight>
                  <a:srgbClr val="FFFFFF"/>
                </a:highlight>
                <a:latin typeface="inter-regular"/>
              </a:rPr>
              <a:t>The splitting will separate 5, 9 from 6 since last three bits of 5, 9 are 001, so it will go </a:t>
            </a:r>
            <a:endParaRPr lang="en-US" b="0" i="0" dirty="0">
              <a:solidFill>
                <a:srgbClr val="000000"/>
              </a:solidFill>
              <a:effectLst/>
              <a:highlight>
                <a:srgbClr val="FFFFFF"/>
              </a:highlight>
              <a:latin typeface="inter-regular"/>
            </a:endParaRPr>
          </a:p>
          <a:p>
            <a:pPr algn="just">
              <a:buFont typeface="Arial" panose="020B0604020202020204" pitchFamily="34" charset="0"/>
              <a:buChar char="•"/>
            </a:pPr>
            <a:r>
              <a:rPr lang="en-US" b="0" i="0" dirty="0">
                <a:solidFill>
                  <a:srgbClr val="000000"/>
                </a:solidFill>
                <a:effectLst/>
                <a:highlight>
                  <a:srgbClr val="FFFFFF"/>
                </a:highlight>
                <a:latin typeface="inter-regular"/>
              </a:rPr>
              <a:t>into bucket B1, and the last three bits of 6 are 101, so it will go into bucket B5.</a:t>
            </a:r>
            <a:endParaRPr lang="en-US" b="0" i="0" dirty="0">
              <a:solidFill>
                <a:srgbClr val="000000"/>
              </a:solidFill>
              <a:effectLst/>
              <a:highlight>
                <a:srgbClr val="FFFFFF"/>
              </a:highlight>
              <a:latin typeface="inter-regular"/>
            </a:endParaRPr>
          </a:p>
          <a:p>
            <a:pPr algn="just">
              <a:buFont typeface="Arial" panose="020B0604020202020204" pitchFamily="34" charset="0"/>
              <a:buChar char="•"/>
            </a:pPr>
            <a:r>
              <a:rPr lang="en-US" b="0" i="0" dirty="0">
                <a:solidFill>
                  <a:srgbClr val="000000"/>
                </a:solidFill>
                <a:effectLst/>
                <a:highlight>
                  <a:srgbClr val="FFFFFF"/>
                </a:highlight>
                <a:latin typeface="inter-regular"/>
              </a:rPr>
              <a:t>Keys 2 and 4 are still in B0. The record in B0 pointed by the 000 and 100 </a:t>
            </a:r>
            <a:endParaRPr lang="en-US" b="0" i="0" dirty="0">
              <a:solidFill>
                <a:srgbClr val="000000"/>
              </a:solidFill>
              <a:effectLst/>
              <a:highlight>
                <a:srgbClr val="FFFFFF"/>
              </a:highlight>
              <a:latin typeface="inter-regular"/>
            </a:endParaRPr>
          </a:p>
          <a:p>
            <a:pPr algn="just">
              <a:buFont typeface="Arial" panose="020B0604020202020204" pitchFamily="34" charset="0"/>
              <a:buChar char="•"/>
            </a:pPr>
            <a:endParaRPr lang="en-US" b="0" i="0" dirty="0">
              <a:solidFill>
                <a:srgbClr val="000000"/>
              </a:solidFill>
              <a:effectLst/>
              <a:highlight>
                <a:srgbClr val="FFFFFF"/>
              </a:highlight>
              <a:latin typeface="inter-regular"/>
            </a:endParaRPr>
          </a:p>
          <a:p>
            <a:pPr algn="just">
              <a:buFont typeface="Arial" panose="020B0604020202020204" pitchFamily="34" charset="0"/>
              <a:buChar char="•"/>
            </a:pPr>
            <a:r>
              <a:rPr lang="en-US" b="0" i="0" dirty="0">
                <a:solidFill>
                  <a:srgbClr val="000000"/>
                </a:solidFill>
                <a:effectLst/>
                <a:highlight>
                  <a:srgbClr val="FFFFFF"/>
                </a:highlight>
                <a:latin typeface="inter-regular"/>
              </a:rPr>
              <a:t>entry because last two bits of both the entry are 00.</a:t>
            </a:r>
            <a:endParaRPr lang="en-US" b="0" i="0" dirty="0">
              <a:solidFill>
                <a:srgbClr val="000000"/>
              </a:solidFill>
              <a:effectLst/>
              <a:highlight>
                <a:srgbClr val="FFFFFF"/>
              </a:highlight>
              <a:latin typeface="inter-regular"/>
            </a:endParaRPr>
          </a:p>
          <a:p>
            <a:pPr algn="just">
              <a:buFont typeface="Arial" panose="020B0604020202020204" pitchFamily="34" charset="0"/>
              <a:buChar char="•"/>
            </a:pPr>
            <a:r>
              <a:rPr lang="en-US" b="0" i="0" dirty="0">
                <a:solidFill>
                  <a:srgbClr val="000000"/>
                </a:solidFill>
                <a:effectLst/>
                <a:highlight>
                  <a:srgbClr val="FFFFFF"/>
                </a:highlight>
                <a:latin typeface="inter-regular"/>
              </a:rPr>
              <a:t>Keys 1 and 3 are still in B2. The record in B2 pointed </a:t>
            </a:r>
            <a:endParaRPr lang="en-US" b="0" i="0" dirty="0">
              <a:solidFill>
                <a:srgbClr val="000000"/>
              </a:solidFill>
              <a:effectLst/>
              <a:highlight>
                <a:srgbClr val="FFFFFF"/>
              </a:highlight>
              <a:latin typeface="inter-regular"/>
            </a:endParaRPr>
          </a:p>
          <a:p>
            <a:pPr algn="just">
              <a:buFont typeface="Arial" panose="020B0604020202020204" pitchFamily="34" charset="0"/>
              <a:buChar char="•"/>
            </a:pPr>
            <a:endParaRPr lang="en-US" b="0" i="0" dirty="0">
              <a:solidFill>
                <a:srgbClr val="000000"/>
              </a:solidFill>
              <a:effectLst/>
              <a:highlight>
                <a:srgbClr val="FFFFFF"/>
              </a:highlight>
              <a:latin typeface="inter-regular"/>
            </a:endParaRPr>
          </a:p>
          <a:p>
            <a:pPr algn="just">
              <a:buFont typeface="Arial" panose="020B0604020202020204" pitchFamily="34" charset="0"/>
              <a:buChar char="•"/>
            </a:pPr>
            <a:endParaRPr lang="en-US" b="0" i="0" dirty="0">
              <a:solidFill>
                <a:srgbClr val="000000"/>
              </a:solidFill>
              <a:effectLst/>
              <a:highlight>
                <a:srgbClr val="FFFFFF"/>
              </a:highlight>
              <a:latin typeface="inter-regular"/>
            </a:endParaRPr>
          </a:p>
          <a:p>
            <a:pPr algn="just">
              <a:buFont typeface="Arial" panose="020B0604020202020204" pitchFamily="34" charset="0"/>
              <a:buChar char="•"/>
            </a:pPr>
            <a:endParaRPr lang="en-US" b="0" i="0" dirty="0">
              <a:solidFill>
                <a:srgbClr val="000000"/>
              </a:solidFill>
              <a:effectLst/>
              <a:highlight>
                <a:srgbClr val="FFFFFF"/>
              </a:highlight>
              <a:latin typeface="inter-regular"/>
            </a:endParaRPr>
          </a:p>
          <a:p>
            <a:pPr algn="just">
              <a:buFont typeface="Arial" panose="020B0604020202020204" pitchFamily="34" charset="0"/>
              <a:buChar char="•"/>
            </a:pPr>
            <a:r>
              <a:rPr lang="en-US" b="0" i="0" dirty="0">
                <a:solidFill>
                  <a:srgbClr val="000000"/>
                </a:solidFill>
                <a:effectLst/>
                <a:highlight>
                  <a:srgbClr val="FFFFFF"/>
                </a:highlight>
                <a:latin typeface="inter-regular"/>
              </a:rPr>
              <a:t>by the 010 and 110 entry because last two bits of both the entry are 10.</a:t>
            </a:r>
            <a:endParaRPr lang="en-US" b="0" i="0" dirty="0">
              <a:solidFill>
                <a:srgbClr val="000000"/>
              </a:solidFill>
              <a:effectLst/>
              <a:highlight>
                <a:srgbClr val="FFFFFF"/>
              </a:highlight>
              <a:latin typeface="inter-regular"/>
            </a:endParaRPr>
          </a:p>
          <a:p>
            <a:pPr algn="just">
              <a:buFont typeface="Arial" panose="020B0604020202020204" pitchFamily="34" charset="0"/>
              <a:buChar char="•"/>
            </a:pPr>
            <a:r>
              <a:rPr lang="en-US" b="0" i="0" dirty="0">
                <a:solidFill>
                  <a:srgbClr val="000000"/>
                </a:solidFill>
                <a:effectLst/>
                <a:highlight>
                  <a:srgbClr val="FFFFFF"/>
                </a:highlight>
                <a:latin typeface="inter-regular"/>
              </a:rPr>
              <a:t>Key 7 are still in B3. The record in B3 pointed by the 111 and 011 entry because last two bits of both the entry are 11.</a:t>
            </a:r>
            <a:endParaRPr lang="en-US" b="0" i="0" dirty="0">
              <a:solidFill>
                <a:srgbClr val="000000"/>
              </a:solidFill>
              <a:effectLst/>
              <a:highlight>
                <a:srgbClr val="FFFFFF"/>
              </a:highlight>
              <a:latin typeface="inter-regular"/>
            </a:endParaRPr>
          </a:p>
          <a:p>
            <a:endParaRPr lang="en-IN"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1"/>
          <a:stretch>
            <a:fillRect/>
          </a:stretch>
        </p:blipFill>
        <p:spPr>
          <a:xfrm>
            <a:off x="3411004" y="1071577"/>
            <a:ext cx="4976291" cy="3322608"/>
          </a:xfr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16627</Words>
  <Application>WPS Presentation</Application>
  <PresentationFormat>Widescreen</PresentationFormat>
  <Paragraphs>362</Paragraphs>
  <Slides>41</Slides>
  <Notes>1</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41</vt:i4>
      </vt:variant>
    </vt:vector>
  </HeadingPairs>
  <TitlesOfParts>
    <vt:vector size="58" baseType="lpstr">
      <vt:lpstr>Arial</vt:lpstr>
      <vt:lpstr>SimSun</vt:lpstr>
      <vt:lpstr>Wingdings</vt:lpstr>
      <vt:lpstr>Nunito</vt:lpstr>
      <vt:lpstr>Segoe Print</vt:lpstr>
      <vt:lpstr>Calibri</vt:lpstr>
      <vt:lpstr>Times New Roman</vt:lpstr>
      <vt:lpstr>Calibri Light</vt:lpstr>
      <vt:lpstr>Microsoft YaHei</vt:lpstr>
      <vt:lpstr>Arial Unicode MS</vt:lpstr>
      <vt:lpstr>erdana</vt:lpstr>
      <vt:lpstr>inter-regular</vt:lpstr>
      <vt:lpstr>inter-bold</vt:lpstr>
      <vt:lpstr>Verdana</vt:lpstr>
      <vt:lpstr>sohne</vt:lpstr>
      <vt:lpstr>source-serif-pro</vt:lpstr>
      <vt:lpstr>Office Theme</vt:lpstr>
      <vt:lpstr>Module 5</vt:lpstr>
      <vt:lpstr>Indexing in Database</vt:lpstr>
      <vt:lpstr>PowerPoint 演示文稿</vt:lpstr>
      <vt:lpstr>Attributes of Indexing </vt:lpstr>
      <vt:lpstr>Sequential File Organization or Ordered Index File </vt:lpstr>
      <vt:lpstr>PowerPoint 演示文稿</vt:lpstr>
      <vt:lpstr>PowerPoint 演示文稿</vt:lpstr>
      <vt:lpstr>PowerPoint 演示文稿</vt:lpstr>
      <vt:lpstr>Single Level Ordered Indexes:</vt:lpstr>
      <vt:lpstr>PowerPoint 演示文稿</vt:lpstr>
      <vt:lpstr>Clustering Index </vt:lpstr>
      <vt:lpstr>PowerPoint 演示文稿</vt:lpstr>
      <vt:lpstr>Secondary Indexing</vt:lpstr>
      <vt:lpstr>PowerPoint 演示文稿</vt:lpstr>
      <vt:lpstr>Multi Level Indexing</vt:lpstr>
      <vt:lpstr>PowerPoint 演示文稿</vt:lpstr>
      <vt:lpstr>PowerPoint 演示文稿</vt:lpstr>
      <vt:lpstr>Dynamic Multilevel Indexing</vt:lpstr>
      <vt:lpstr>B-Tree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Hashing:</vt:lpstr>
      <vt:lpstr>PowerPoint 演示文稿</vt:lpstr>
      <vt:lpstr>PowerPoint 演示文稿</vt:lpstr>
      <vt:lpstr>Types of Hashing:</vt:lpstr>
      <vt:lpstr>Static Hashing:</vt:lpstr>
      <vt:lpstr>PowerPoint 演示文稿</vt:lpstr>
      <vt:lpstr>PowerPoint 演示文稿</vt:lpstr>
      <vt:lpstr>PowerPoint 演示文稿</vt:lpstr>
      <vt:lpstr>PowerPoint 演示文稿</vt:lpstr>
      <vt:lpstr>Dynamic Hashing</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5</dc:title>
  <dc:creator>priyankarukesh@gmail.com</dc:creator>
  <cp:lastModifiedBy>itzmo</cp:lastModifiedBy>
  <cp:revision>2</cp:revision>
  <dcterms:created xsi:type="dcterms:W3CDTF">2024-05-06T06:50:00Z</dcterms:created>
  <dcterms:modified xsi:type="dcterms:W3CDTF">2024-06-02T18:16:46Z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F334264F627C4405B988254DAC6BF5AE_12</vt:lpwstr>
  </property>
  <property fmtid="{D5CDD505-2E9C-101B-9397-08002B2CF9AE}" pid="3" name="KSOProductBuildVer">
    <vt:lpwstr>1033-12.2.0.17119</vt:lpwstr>
  </property>
</Properties>
</file>